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jpg"/><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jpg"/><Relationship Id="rId9" Type="http://schemas.openxmlformats.org/officeDocument/2006/relationships/image" Target="../media/image6.png"/><Relationship Id="rId5" Type="http://schemas.openxmlformats.org/officeDocument/2006/relationships/image" Target="../media/image2.jpg"/><Relationship Id="rId6" Type="http://schemas.openxmlformats.org/officeDocument/2006/relationships/image" Target="../media/image9.jpg"/><Relationship Id="rId7" Type="http://schemas.openxmlformats.org/officeDocument/2006/relationships/image" Target="../media/image7.jpg"/><Relationship Id="rId8"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jpg"/><Relationship Id="rId5"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9315" l="0" r="0" t="-69315"/>
            </a:stretch>
          </a:blipFill>
          <a:ln>
            <a:noFill/>
          </a:ln>
        </p:spPr>
      </p:sp>
      <p:grpSp>
        <p:nvGrpSpPr>
          <p:cNvPr id="85" name="Google Shape;85;p13"/>
          <p:cNvGrpSpPr/>
          <p:nvPr/>
        </p:nvGrpSpPr>
        <p:grpSpPr>
          <a:xfrm>
            <a:off x="1153933" y="2541621"/>
            <a:ext cx="16230600" cy="302551"/>
            <a:chOff x="0" y="-38100"/>
            <a:chExt cx="4052983" cy="75550"/>
          </a:xfrm>
        </p:grpSpPr>
        <p:sp>
          <p:nvSpPr>
            <p:cNvPr id="86" name="Google Shape;86;p13"/>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87" name="Google Shape;87;p13"/>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3"/>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89" name="Google Shape;89;p13"/>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
        <p:nvSpPr>
          <p:cNvPr id="90" name="Google Shape;90;p13"/>
          <p:cNvSpPr txBox="1"/>
          <p:nvPr/>
        </p:nvSpPr>
        <p:spPr>
          <a:xfrm>
            <a:off x="4173024" y="365758"/>
            <a:ext cx="10395942" cy="1116334"/>
          </a:xfrm>
          <a:prstGeom prst="rect">
            <a:avLst/>
          </a:prstGeom>
          <a:noFill/>
          <a:ln>
            <a:noFill/>
          </a:ln>
        </p:spPr>
        <p:txBody>
          <a:bodyPr anchorCtr="0" anchor="t" bIns="0" lIns="0" spcFirstLastPara="1" rIns="0" wrap="square" tIns="0">
            <a:spAutoFit/>
          </a:bodyPr>
          <a:lstStyle/>
          <a:p>
            <a:pPr indent="0" lvl="0" marL="0" marR="0" rtl="0" algn="ctr">
              <a:lnSpc>
                <a:spcPct val="151008"/>
              </a:lnSpc>
              <a:spcBef>
                <a:spcPts val="0"/>
              </a:spcBef>
              <a:spcAft>
                <a:spcPts val="0"/>
              </a:spcAft>
              <a:buNone/>
            </a:pPr>
            <a:r>
              <a:rPr b="1" i="0" lang="en-US" sz="5999" u="none" cap="none" strike="noStrike">
                <a:solidFill>
                  <a:srgbClr val="FFFFFF"/>
                </a:solidFill>
                <a:latin typeface="Times"/>
                <a:ea typeface="Times"/>
                <a:cs typeface="Times"/>
                <a:sym typeface="Times"/>
              </a:rPr>
              <a:t>HACK MATRIX HACKATHON </a:t>
            </a:r>
            <a:endParaRPr/>
          </a:p>
        </p:txBody>
      </p:sp>
      <p:sp>
        <p:nvSpPr>
          <p:cNvPr id="91" name="Google Shape;91;p13"/>
          <p:cNvSpPr txBox="1"/>
          <p:nvPr/>
        </p:nvSpPr>
        <p:spPr>
          <a:xfrm>
            <a:off x="7363982" y="1687516"/>
            <a:ext cx="3301200" cy="215400"/>
          </a:xfrm>
          <a:prstGeom prst="rect">
            <a:avLst/>
          </a:prstGeom>
          <a:noFill/>
          <a:ln>
            <a:noFill/>
          </a:ln>
        </p:spPr>
        <p:txBody>
          <a:bodyPr anchorCtr="0" anchor="t" bIns="0" lIns="0" spcFirstLastPara="1" rIns="0" wrap="square" tIns="0">
            <a:spAutoFit/>
          </a:bodyPr>
          <a:lstStyle/>
          <a:p>
            <a:pPr indent="0" lvl="0" marL="0" marR="0" rtl="0" algn="l">
              <a:lnSpc>
                <a:spcPct val="151011"/>
              </a:lnSpc>
              <a:spcBef>
                <a:spcPts val="0"/>
              </a:spcBef>
              <a:spcAft>
                <a:spcPts val="0"/>
              </a:spcAft>
              <a:buNone/>
            </a:pPr>
            <a:r>
              <a:t/>
            </a:r>
            <a:endParaRPr/>
          </a:p>
        </p:txBody>
      </p:sp>
      <p:sp>
        <p:nvSpPr>
          <p:cNvPr id="92" name="Google Shape;92;p13"/>
          <p:cNvSpPr txBox="1"/>
          <p:nvPr/>
        </p:nvSpPr>
        <p:spPr>
          <a:xfrm>
            <a:off x="485925" y="3568775"/>
            <a:ext cx="16898700" cy="1317300"/>
          </a:xfrm>
          <a:prstGeom prst="rect">
            <a:avLst/>
          </a:prstGeom>
          <a:noFill/>
          <a:ln>
            <a:noFill/>
          </a:ln>
        </p:spPr>
        <p:txBody>
          <a:bodyPr anchorCtr="0" anchor="t" bIns="0" lIns="0" spcFirstLastPara="1" rIns="0" wrap="square" tIns="0">
            <a:spAutoFit/>
          </a:bodyPr>
          <a:lstStyle/>
          <a:p>
            <a:pPr indent="-345436" lvl="1" marL="690874" marR="0" rtl="0" algn="l">
              <a:lnSpc>
                <a:spcPct val="151015"/>
              </a:lnSpc>
              <a:spcBef>
                <a:spcPts val="0"/>
              </a:spcBef>
              <a:spcAft>
                <a:spcPts val="0"/>
              </a:spcAft>
              <a:buClr>
                <a:srgbClr val="FFFFFF"/>
              </a:buClr>
              <a:buSzPts val="3199"/>
              <a:buFont typeface="Arial"/>
              <a:buChar char="•"/>
            </a:pPr>
            <a:r>
              <a:rPr b="1" i="0" lang="en-US" sz="3199" u="none" cap="none" strike="noStrike">
                <a:solidFill>
                  <a:srgbClr val="FFFFFF"/>
                </a:solidFill>
                <a:latin typeface="Times"/>
                <a:ea typeface="Times"/>
                <a:cs typeface="Times"/>
                <a:sym typeface="Times"/>
              </a:rPr>
              <a:t>PROJECT TITLE </a:t>
            </a:r>
            <a:r>
              <a:rPr b="1" lang="en-US" sz="3199">
                <a:solidFill>
                  <a:srgbClr val="FFFFFF"/>
                </a:solidFill>
                <a:latin typeface="Times"/>
                <a:ea typeface="Times"/>
                <a:cs typeface="Times"/>
                <a:sym typeface="Times"/>
              </a:rPr>
              <a:t> : </a:t>
            </a:r>
            <a:r>
              <a:rPr b="1" lang="en-US" sz="3350">
                <a:solidFill>
                  <a:schemeClr val="lt1"/>
                </a:solidFill>
                <a:latin typeface="Times New Roman"/>
                <a:ea typeface="Times New Roman"/>
                <a:cs typeface="Times New Roman"/>
                <a:sym typeface="Times New Roman"/>
              </a:rPr>
              <a:t>Posture &amp; Break Reminder</a:t>
            </a:r>
            <a:endParaRPr b="1" sz="3350">
              <a:solidFill>
                <a:schemeClr val="lt1"/>
              </a:solidFill>
              <a:latin typeface="Times New Roman"/>
              <a:ea typeface="Times New Roman"/>
              <a:cs typeface="Times New Roman"/>
              <a:sym typeface="Times New Roman"/>
            </a:endParaRPr>
          </a:p>
          <a:p>
            <a:pPr indent="0" lvl="0" marL="914400" marR="0" rtl="0" algn="l">
              <a:lnSpc>
                <a:spcPct val="151015"/>
              </a:lnSpc>
              <a:spcBef>
                <a:spcPts val="0"/>
              </a:spcBef>
              <a:spcAft>
                <a:spcPts val="0"/>
              </a:spcAft>
              <a:buNone/>
            </a:pPr>
            <a:r>
              <a:t/>
            </a:r>
            <a:endParaRPr sz="3500">
              <a:solidFill>
                <a:schemeClr val="lt1"/>
              </a:solidFill>
            </a:endParaRPr>
          </a:p>
        </p:txBody>
      </p:sp>
      <p:sp>
        <p:nvSpPr>
          <p:cNvPr id="93" name="Google Shape;93;p13"/>
          <p:cNvSpPr txBox="1"/>
          <p:nvPr/>
        </p:nvSpPr>
        <p:spPr>
          <a:xfrm>
            <a:off x="476475" y="5243025"/>
            <a:ext cx="15713700" cy="538500"/>
          </a:xfrm>
          <a:prstGeom prst="rect">
            <a:avLst/>
          </a:prstGeom>
          <a:noFill/>
          <a:ln>
            <a:noFill/>
          </a:ln>
        </p:spPr>
        <p:txBody>
          <a:bodyPr anchorCtr="0" anchor="t" bIns="0" lIns="0" spcFirstLastPara="1" rIns="0" wrap="square" tIns="0">
            <a:spAutoFit/>
          </a:bodyPr>
          <a:lstStyle/>
          <a:p>
            <a:pPr indent="-345437" lvl="1" marL="690874" marR="0" rtl="0" algn="l">
              <a:lnSpc>
                <a:spcPct val="151015"/>
              </a:lnSpc>
              <a:spcBef>
                <a:spcPts val="0"/>
              </a:spcBef>
              <a:spcAft>
                <a:spcPts val="0"/>
              </a:spcAft>
              <a:buClr>
                <a:srgbClr val="FFFFFF"/>
              </a:buClr>
              <a:buSzPts val="3199"/>
              <a:buFont typeface="Arial"/>
              <a:buChar char="•"/>
            </a:pPr>
            <a:r>
              <a:rPr b="1" i="0" lang="en-US" sz="3199" u="none" cap="none" strike="noStrike">
                <a:solidFill>
                  <a:srgbClr val="FFFFFF"/>
                </a:solidFill>
                <a:latin typeface="Times"/>
                <a:ea typeface="Times"/>
                <a:cs typeface="Times"/>
                <a:sym typeface="Times"/>
              </a:rPr>
              <a:t>TEAM NAME</a:t>
            </a:r>
            <a:r>
              <a:rPr b="1" lang="en-US" sz="3199">
                <a:solidFill>
                  <a:srgbClr val="FFFFFF"/>
                </a:solidFill>
                <a:latin typeface="Times"/>
                <a:ea typeface="Times"/>
                <a:cs typeface="Times"/>
                <a:sym typeface="Times"/>
              </a:rPr>
              <a:t> </a:t>
            </a:r>
            <a:r>
              <a:rPr b="1" i="0" lang="en-US" sz="3199" u="none" cap="none" strike="noStrike">
                <a:solidFill>
                  <a:srgbClr val="FFFFFF"/>
                </a:solidFill>
                <a:latin typeface="Times"/>
                <a:ea typeface="Times"/>
                <a:cs typeface="Times"/>
                <a:sym typeface="Times"/>
              </a:rPr>
              <a:t>: </a:t>
            </a:r>
            <a:r>
              <a:rPr b="1" i="0" lang="en-US" sz="3499" u="none" cap="none" strike="noStrike">
                <a:solidFill>
                  <a:srgbClr val="FFFFFF"/>
                </a:solidFill>
                <a:latin typeface="Times"/>
                <a:ea typeface="Times"/>
                <a:cs typeface="Times"/>
                <a:sym typeface="Times"/>
              </a:rPr>
              <a:t>Team </a:t>
            </a:r>
            <a:r>
              <a:rPr b="1" lang="en-US" sz="3499">
                <a:solidFill>
                  <a:srgbClr val="FFFFFF"/>
                </a:solidFill>
                <a:latin typeface="Times"/>
                <a:ea typeface="Times"/>
                <a:cs typeface="Times"/>
                <a:sym typeface="Times"/>
              </a:rPr>
              <a:t>Committed</a:t>
            </a:r>
            <a:endParaRPr sz="1700"/>
          </a:p>
        </p:txBody>
      </p:sp>
      <p:sp>
        <p:nvSpPr>
          <p:cNvPr id="94" name="Google Shape;94;p13"/>
          <p:cNvSpPr txBox="1"/>
          <p:nvPr/>
        </p:nvSpPr>
        <p:spPr>
          <a:xfrm>
            <a:off x="485950" y="6919950"/>
            <a:ext cx="14808300" cy="2723100"/>
          </a:xfrm>
          <a:prstGeom prst="rect">
            <a:avLst/>
          </a:prstGeom>
          <a:noFill/>
          <a:ln>
            <a:noFill/>
          </a:ln>
        </p:spPr>
        <p:txBody>
          <a:bodyPr anchorCtr="0" anchor="t" bIns="0" lIns="0" spcFirstLastPara="1" rIns="0" wrap="square" tIns="0">
            <a:spAutoFit/>
          </a:bodyPr>
          <a:lstStyle/>
          <a:p>
            <a:pPr indent="-345436" lvl="1" marL="690874" marR="0" rtl="0" algn="l">
              <a:lnSpc>
                <a:spcPct val="151015"/>
              </a:lnSpc>
              <a:spcBef>
                <a:spcPts val="0"/>
              </a:spcBef>
              <a:spcAft>
                <a:spcPts val="0"/>
              </a:spcAft>
              <a:buClr>
                <a:srgbClr val="FFFFFF"/>
              </a:buClr>
              <a:buSzPts val="3199"/>
              <a:buFont typeface="Arial"/>
              <a:buChar char="•"/>
            </a:pPr>
            <a:r>
              <a:rPr b="1" i="0" lang="en-US" sz="3199" u="none" cap="none" strike="noStrike">
                <a:solidFill>
                  <a:srgbClr val="FFFFFF"/>
                </a:solidFill>
                <a:latin typeface="Times"/>
                <a:ea typeface="Times"/>
                <a:cs typeface="Times"/>
                <a:sym typeface="Times"/>
              </a:rPr>
              <a:t>TEAM MEMBERS : 1. Mangal Singh(</a:t>
            </a:r>
            <a:r>
              <a:rPr b="1" lang="en-US" sz="3199">
                <a:solidFill>
                  <a:srgbClr val="FFFFFF"/>
                </a:solidFill>
                <a:latin typeface="Times"/>
                <a:ea typeface="Times"/>
                <a:cs typeface="Times"/>
                <a:sym typeface="Times"/>
              </a:rPr>
              <a:t>24BCE10599)</a:t>
            </a:r>
            <a:endParaRPr b="1" i="0" sz="3199" u="none" cap="none" strike="noStrike">
              <a:solidFill>
                <a:srgbClr val="FFFFFF"/>
              </a:solidFill>
              <a:latin typeface="Times"/>
              <a:ea typeface="Times"/>
              <a:cs typeface="Times"/>
              <a:sym typeface="Times"/>
            </a:endParaRPr>
          </a:p>
          <a:p>
            <a:pPr indent="0" lvl="0" marL="914400" marR="0" rtl="0" algn="l">
              <a:lnSpc>
                <a:spcPct val="151015"/>
              </a:lnSpc>
              <a:spcBef>
                <a:spcPts val="0"/>
              </a:spcBef>
              <a:spcAft>
                <a:spcPts val="0"/>
              </a:spcAft>
              <a:buNone/>
            </a:pPr>
            <a:r>
              <a:rPr b="1" lang="en-US" sz="3199">
                <a:solidFill>
                  <a:srgbClr val="FFFFFF"/>
                </a:solidFill>
                <a:latin typeface="Times"/>
                <a:ea typeface="Times"/>
                <a:cs typeface="Times"/>
                <a:sym typeface="Times"/>
              </a:rPr>
              <a:t>                                   2. Krishna(24BAI10230)</a:t>
            </a:r>
            <a:endParaRPr b="1" sz="3199">
              <a:solidFill>
                <a:srgbClr val="FFFFFF"/>
              </a:solidFill>
              <a:latin typeface="Times"/>
              <a:ea typeface="Times"/>
              <a:cs typeface="Times"/>
              <a:sym typeface="Times"/>
            </a:endParaRPr>
          </a:p>
          <a:p>
            <a:pPr indent="0" lvl="0" marL="914400" marR="0" rtl="0" algn="l">
              <a:lnSpc>
                <a:spcPct val="151015"/>
              </a:lnSpc>
              <a:spcBef>
                <a:spcPts val="0"/>
              </a:spcBef>
              <a:spcAft>
                <a:spcPts val="0"/>
              </a:spcAft>
              <a:buNone/>
            </a:pPr>
            <a:r>
              <a:rPr b="1" lang="en-US" sz="3199">
                <a:solidFill>
                  <a:srgbClr val="FFFFFF"/>
                </a:solidFill>
                <a:latin typeface="Times"/>
                <a:ea typeface="Times"/>
                <a:cs typeface="Times"/>
                <a:sym typeface="Times"/>
              </a:rPr>
              <a:t>                                   3. Jiya Jaiswal(24BAI10275)</a:t>
            </a:r>
            <a:endParaRPr b="1" sz="3199">
              <a:solidFill>
                <a:srgbClr val="FFFFFF"/>
              </a:solidFill>
              <a:latin typeface="Times"/>
              <a:ea typeface="Times"/>
              <a:cs typeface="Times"/>
              <a:sym typeface="Times"/>
            </a:endParaRPr>
          </a:p>
          <a:p>
            <a:pPr indent="0" lvl="0" marL="914400" marR="0" rtl="0" algn="l">
              <a:lnSpc>
                <a:spcPct val="151015"/>
              </a:lnSpc>
              <a:spcBef>
                <a:spcPts val="0"/>
              </a:spcBef>
              <a:spcAft>
                <a:spcPts val="0"/>
              </a:spcAft>
              <a:buNone/>
            </a:pPr>
            <a:r>
              <a:rPr b="1" lang="en-US" sz="3199">
                <a:solidFill>
                  <a:srgbClr val="FFFFFF"/>
                </a:solidFill>
                <a:latin typeface="Times"/>
                <a:ea typeface="Times"/>
                <a:cs typeface="Times"/>
                <a:sym typeface="Times"/>
              </a:rPr>
              <a:t>                                   4. Shalvi Pandey(24BCE11141)</a:t>
            </a:r>
            <a:endParaRPr b="1" sz="3199">
              <a:solidFill>
                <a:srgbClr val="FFFFFF"/>
              </a:solidFill>
              <a:latin typeface="Times"/>
              <a:ea typeface="Times"/>
              <a:cs typeface="Times"/>
              <a:sym typeface="Time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00" name="Google Shape;100;p14"/>
          <p:cNvSpPr txBox="1"/>
          <p:nvPr/>
        </p:nvSpPr>
        <p:spPr>
          <a:xfrm>
            <a:off x="5836791" y="830950"/>
            <a:ext cx="66144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PROBLEM   STATEMENT</a:t>
            </a:r>
            <a:endParaRPr/>
          </a:p>
        </p:txBody>
      </p:sp>
      <p:sp>
        <p:nvSpPr>
          <p:cNvPr id="101" name="Google Shape;101;p14"/>
          <p:cNvSpPr txBox="1"/>
          <p:nvPr/>
        </p:nvSpPr>
        <p:spPr>
          <a:xfrm>
            <a:off x="1057200" y="2928888"/>
            <a:ext cx="15815100" cy="12252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Describe the problem clearly </a:t>
            </a:r>
            <a:r>
              <a:rPr b="1" lang="en-US" sz="3399">
                <a:solidFill>
                  <a:srgbClr val="FFFFFF"/>
                </a:solidFill>
                <a:latin typeface="Times"/>
                <a:ea typeface="Times"/>
                <a:cs typeface="Times"/>
                <a:sym typeface="Times"/>
              </a:rPr>
              <a:t>:</a:t>
            </a:r>
            <a:r>
              <a:rPr b="1" i="1" lang="en-US" sz="3100">
                <a:solidFill>
                  <a:schemeClr val="lt1"/>
                </a:solidFill>
                <a:latin typeface="Times New Roman"/>
                <a:ea typeface="Times New Roman"/>
                <a:cs typeface="Times New Roman"/>
                <a:sym typeface="Times New Roman"/>
              </a:rPr>
              <a:t> </a:t>
            </a:r>
            <a:r>
              <a:rPr i="1" lang="en-US" sz="3200">
                <a:solidFill>
                  <a:schemeClr val="lt1"/>
                </a:solidFill>
                <a:latin typeface="Times New Roman"/>
                <a:ea typeface="Times New Roman"/>
                <a:cs typeface="Times New Roman"/>
                <a:sym typeface="Times New Roman"/>
              </a:rPr>
              <a:t>Long screen usage leads to poor posture, causing health issues like back pain and fatigue. Many users are unaware of their posture habits.</a:t>
            </a:r>
            <a:endParaRPr i="1" sz="3200">
              <a:solidFill>
                <a:srgbClr val="FFFFFF"/>
              </a:solidFill>
              <a:latin typeface="Times New Roman"/>
              <a:ea typeface="Times New Roman"/>
              <a:cs typeface="Times New Roman"/>
              <a:sym typeface="Times New Roman"/>
            </a:endParaRPr>
          </a:p>
        </p:txBody>
      </p:sp>
      <p:sp>
        <p:nvSpPr>
          <p:cNvPr id="102" name="Google Shape;102;p14"/>
          <p:cNvSpPr txBox="1"/>
          <p:nvPr/>
        </p:nvSpPr>
        <p:spPr>
          <a:xfrm>
            <a:off x="1136250" y="4782150"/>
            <a:ext cx="15657000" cy="1877700"/>
          </a:xfrm>
          <a:prstGeom prst="rect">
            <a:avLst/>
          </a:prstGeom>
          <a:noFill/>
          <a:ln>
            <a:noFill/>
          </a:ln>
        </p:spPr>
        <p:txBody>
          <a:bodyPr anchorCtr="0" anchor="t" bIns="0" lIns="0" spcFirstLastPara="1" rIns="0" wrap="square" tIns="0">
            <a:spAutoFit/>
          </a:bodyPr>
          <a:lstStyle/>
          <a:p>
            <a:pPr indent="-367028"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Who is affected by this problem </a:t>
            </a:r>
            <a:r>
              <a:rPr b="1" lang="en-US" sz="3399">
                <a:solidFill>
                  <a:srgbClr val="FFFFFF"/>
                </a:solidFill>
                <a:latin typeface="Times"/>
                <a:ea typeface="Times"/>
                <a:cs typeface="Times"/>
                <a:sym typeface="Times"/>
              </a:rPr>
              <a:t>: </a:t>
            </a:r>
            <a:r>
              <a:rPr i="1" lang="en-US" sz="3100">
                <a:solidFill>
                  <a:srgbClr val="FFFFFF"/>
                </a:solidFill>
                <a:latin typeface="Times New Roman"/>
                <a:ea typeface="Times New Roman"/>
                <a:cs typeface="Times New Roman"/>
                <a:sym typeface="Times New Roman"/>
              </a:rPr>
              <a:t>Students, office workers, remote employees, gamers, and professionals like designers or developers who spend long hours sitting in front of screens are most affected by this problem.</a:t>
            </a:r>
            <a:endParaRPr i="1" sz="3400">
              <a:latin typeface="Times New Roman"/>
              <a:ea typeface="Times New Roman"/>
              <a:cs typeface="Times New Roman"/>
              <a:sym typeface="Times New Roman"/>
            </a:endParaRPr>
          </a:p>
        </p:txBody>
      </p:sp>
      <p:sp>
        <p:nvSpPr>
          <p:cNvPr id="103" name="Google Shape;103;p14"/>
          <p:cNvSpPr txBox="1"/>
          <p:nvPr/>
        </p:nvSpPr>
        <p:spPr>
          <a:xfrm>
            <a:off x="1178098" y="7287925"/>
            <a:ext cx="15931800" cy="1877700"/>
          </a:xfrm>
          <a:prstGeom prst="rect">
            <a:avLst/>
          </a:prstGeom>
          <a:noFill/>
          <a:ln>
            <a:noFill/>
          </a:ln>
        </p:spPr>
        <p:txBody>
          <a:bodyPr anchorCtr="0" anchor="t" bIns="0" lIns="0" spcFirstLastPara="1" rIns="0" wrap="square" tIns="0">
            <a:spAutoFit/>
          </a:bodyPr>
          <a:lstStyle/>
          <a:p>
            <a:pPr indent="-367028"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Why this problem is important ? </a:t>
            </a:r>
            <a:r>
              <a:rPr i="1" lang="en-US" sz="3100">
                <a:solidFill>
                  <a:srgbClr val="FFFFFF"/>
                </a:solidFill>
                <a:latin typeface="Times"/>
                <a:ea typeface="Times"/>
                <a:cs typeface="Times"/>
                <a:sym typeface="Times"/>
              </a:rPr>
              <a:t>T</a:t>
            </a:r>
            <a:r>
              <a:rPr i="1" lang="en-US" sz="3100">
                <a:solidFill>
                  <a:srgbClr val="FFFFFF"/>
                </a:solidFill>
                <a:latin typeface="Times New Roman"/>
                <a:ea typeface="Times New Roman"/>
                <a:cs typeface="Times New Roman"/>
                <a:sym typeface="Times New Roman"/>
              </a:rPr>
              <a:t>his problem is important because poor posture and lack of breaks can lead to long-term health issues, reduced productivity, and overall physical discomfort.</a:t>
            </a:r>
            <a:endParaRPr i="1" sz="3100">
              <a:latin typeface="Times New Roman"/>
              <a:ea typeface="Times New Roman"/>
              <a:cs typeface="Times New Roman"/>
              <a:sym typeface="Times New Roman"/>
            </a:endParaRPr>
          </a:p>
        </p:txBody>
      </p:sp>
      <p:grpSp>
        <p:nvGrpSpPr>
          <p:cNvPr id="104" name="Google Shape;104;p14"/>
          <p:cNvGrpSpPr/>
          <p:nvPr/>
        </p:nvGrpSpPr>
        <p:grpSpPr>
          <a:xfrm>
            <a:off x="1028700" y="1603084"/>
            <a:ext cx="16230600" cy="302551"/>
            <a:chOff x="0" y="-38100"/>
            <a:chExt cx="4052983" cy="75550"/>
          </a:xfrm>
        </p:grpSpPr>
        <p:sp>
          <p:nvSpPr>
            <p:cNvPr id="105" name="Google Shape;105;p14"/>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06" name="Google Shape;106;p14"/>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14"/>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08" name="Google Shape;108;p14"/>
          <p:cNvSpPr/>
          <p:nvPr/>
        </p:nvSpPr>
        <p:spPr>
          <a:xfrm>
            <a:off x="16155676" y="0"/>
            <a:ext cx="2129095" cy="1603011"/>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14" name="Google Shape;114;p15"/>
          <p:cNvSpPr txBox="1"/>
          <p:nvPr/>
        </p:nvSpPr>
        <p:spPr>
          <a:xfrm>
            <a:off x="4489659" y="829275"/>
            <a:ext cx="93087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EXISTING  SOLUTIONS  AND  GAPS</a:t>
            </a:r>
            <a:endParaRPr/>
          </a:p>
        </p:txBody>
      </p:sp>
      <p:sp>
        <p:nvSpPr>
          <p:cNvPr id="115" name="Google Shape;115;p15"/>
          <p:cNvSpPr txBox="1"/>
          <p:nvPr/>
        </p:nvSpPr>
        <p:spPr>
          <a:xfrm>
            <a:off x="795600" y="2855513"/>
            <a:ext cx="16696800" cy="25458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List of existing Solutions  (if any) : </a:t>
            </a:r>
            <a:r>
              <a:rPr lang="en-US" sz="3100">
                <a:solidFill>
                  <a:srgbClr val="FFFFFF"/>
                </a:solidFill>
                <a:latin typeface="Times New Roman"/>
                <a:ea typeface="Times New Roman"/>
                <a:cs typeface="Times New Roman"/>
                <a:sym typeface="Times New Roman"/>
              </a:rPr>
              <a:t>Existing solutions include time-based reminder apps,                   fitness and wellness apps, and desktop tools for screen-time and break alerts.                                          Additionally, wearable posture correctors and ergonomic equipment like chairs and standing desks are used to improve posture.</a:t>
            </a:r>
            <a:endParaRPr b="1" sz="3100">
              <a:solidFill>
                <a:srgbClr val="FFFFFF"/>
              </a:solidFill>
              <a:latin typeface="Times New Roman"/>
              <a:ea typeface="Times New Roman"/>
              <a:cs typeface="Times New Roman"/>
              <a:sym typeface="Times New Roman"/>
            </a:endParaRPr>
          </a:p>
        </p:txBody>
      </p:sp>
      <p:sp>
        <p:nvSpPr>
          <p:cNvPr id="116" name="Google Shape;116;p15"/>
          <p:cNvSpPr txBox="1"/>
          <p:nvPr/>
        </p:nvSpPr>
        <p:spPr>
          <a:xfrm>
            <a:off x="795600" y="5765550"/>
            <a:ext cx="16656900" cy="1209600"/>
          </a:xfrm>
          <a:prstGeom prst="rect">
            <a:avLst/>
          </a:prstGeom>
          <a:noFill/>
          <a:ln>
            <a:noFill/>
          </a:ln>
        </p:spPr>
        <p:txBody>
          <a:bodyPr anchorCtr="0" anchor="t" bIns="0" lIns="0" spcFirstLastPara="1" rIns="0" wrap="square" tIns="0">
            <a:spAutoFit/>
          </a:bodyPr>
          <a:lstStyle/>
          <a:p>
            <a:pPr indent="-367028"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Mention their Limitations : </a:t>
            </a:r>
            <a:r>
              <a:rPr lang="en-US" sz="3100">
                <a:solidFill>
                  <a:srgbClr val="FFFFFF"/>
                </a:solidFill>
                <a:latin typeface="Times New Roman"/>
                <a:ea typeface="Times New Roman"/>
                <a:cs typeface="Times New Roman"/>
                <a:sym typeface="Times New Roman"/>
              </a:rPr>
              <a:t>Most of these solutions just give basic reminders and don’t actually check your posture, so they’re not very effective in helping you improve it.</a:t>
            </a:r>
            <a:endParaRPr sz="3100">
              <a:latin typeface="Times New Roman"/>
              <a:ea typeface="Times New Roman"/>
              <a:cs typeface="Times New Roman"/>
              <a:sym typeface="Times New Roman"/>
            </a:endParaRPr>
          </a:p>
        </p:txBody>
      </p:sp>
      <p:sp>
        <p:nvSpPr>
          <p:cNvPr id="117" name="Google Shape;117;p15"/>
          <p:cNvSpPr txBox="1"/>
          <p:nvPr/>
        </p:nvSpPr>
        <p:spPr>
          <a:xfrm>
            <a:off x="795600" y="7385575"/>
            <a:ext cx="16368900" cy="1877700"/>
          </a:xfrm>
          <a:prstGeom prst="rect">
            <a:avLst/>
          </a:prstGeom>
          <a:noFill/>
          <a:ln>
            <a:noFill/>
          </a:ln>
        </p:spPr>
        <p:txBody>
          <a:bodyPr anchorCtr="0" anchor="t" bIns="0" lIns="0" spcFirstLastPara="1" rIns="0" wrap="square" tIns="0">
            <a:spAutoFit/>
          </a:bodyPr>
          <a:lstStyle/>
          <a:p>
            <a:pPr indent="-367028"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Explain the gap your project will address :</a:t>
            </a:r>
            <a:r>
              <a:rPr b="1" i="0" lang="en-US" sz="3399" u="none" cap="none" strike="noStrike">
                <a:solidFill>
                  <a:srgbClr val="FFFFFF"/>
                </a:solidFill>
                <a:latin typeface="Times"/>
                <a:ea typeface="Times"/>
                <a:cs typeface="Times"/>
                <a:sym typeface="Times"/>
              </a:rPr>
              <a:t> </a:t>
            </a:r>
            <a:r>
              <a:rPr lang="en-US" sz="3100">
                <a:solidFill>
                  <a:srgbClr val="FFFFFF"/>
                </a:solidFill>
                <a:latin typeface="Times New Roman"/>
                <a:ea typeface="Times New Roman"/>
                <a:cs typeface="Times New Roman"/>
                <a:sym typeface="Times New Roman"/>
              </a:rPr>
              <a:t>Our project bridges the gap by offering a smart system that uses the device camera to detect poor posture in real time and provides personalized alerts and timely break reminders to improve user habits.</a:t>
            </a:r>
            <a:endParaRPr sz="3100">
              <a:latin typeface="Times New Roman"/>
              <a:ea typeface="Times New Roman"/>
              <a:cs typeface="Times New Roman"/>
              <a:sym typeface="Times New Roman"/>
            </a:endParaRPr>
          </a:p>
        </p:txBody>
      </p:sp>
      <p:grpSp>
        <p:nvGrpSpPr>
          <p:cNvPr id="118" name="Google Shape;118;p15"/>
          <p:cNvGrpSpPr/>
          <p:nvPr/>
        </p:nvGrpSpPr>
        <p:grpSpPr>
          <a:xfrm>
            <a:off x="1221872" y="1503973"/>
            <a:ext cx="16230600" cy="302551"/>
            <a:chOff x="0" y="-38100"/>
            <a:chExt cx="4052983" cy="75550"/>
          </a:xfrm>
        </p:grpSpPr>
        <p:sp>
          <p:nvSpPr>
            <p:cNvPr id="119" name="Google Shape;119;p15"/>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20" name="Google Shape;120;p15"/>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15"/>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22" name="Google Shape;122;p15"/>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p:nvPr/>
        </p:nvSpPr>
        <p:spPr>
          <a:xfrm>
            <a:off x="0" y="0"/>
            <a:ext cx="18288000" cy="11264265"/>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28" name="Google Shape;128;p16"/>
          <p:cNvSpPr txBox="1"/>
          <p:nvPr/>
        </p:nvSpPr>
        <p:spPr>
          <a:xfrm>
            <a:off x="6113013" y="697487"/>
            <a:ext cx="63210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PROPOSED  SOLUTION </a:t>
            </a:r>
            <a:endParaRPr/>
          </a:p>
        </p:txBody>
      </p:sp>
      <p:sp>
        <p:nvSpPr>
          <p:cNvPr id="129" name="Google Shape;129;p16"/>
          <p:cNvSpPr txBox="1"/>
          <p:nvPr/>
        </p:nvSpPr>
        <p:spPr>
          <a:xfrm>
            <a:off x="731000" y="2754775"/>
            <a:ext cx="16331100" cy="19452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Explain your solution clearly </a:t>
            </a:r>
            <a:r>
              <a:rPr b="1" lang="en-US" sz="3399">
                <a:solidFill>
                  <a:srgbClr val="FFFFFF"/>
                </a:solidFill>
                <a:latin typeface="Times"/>
                <a:ea typeface="Times"/>
                <a:cs typeface="Times"/>
                <a:sym typeface="Times"/>
              </a:rPr>
              <a:t>:</a:t>
            </a:r>
            <a:r>
              <a:rPr b="1" lang="en-US" sz="3100">
                <a:solidFill>
                  <a:schemeClr val="lt1"/>
                </a:solidFill>
                <a:latin typeface="Times New Roman"/>
                <a:ea typeface="Times New Roman"/>
                <a:cs typeface="Times New Roman"/>
                <a:sym typeface="Times New Roman"/>
              </a:rPr>
              <a:t> </a:t>
            </a:r>
            <a:r>
              <a:rPr i="1" lang="en-US" sz="3200">
                <a:solidFill>
                  <a:schemeClr val="lt1"/>
                </a:solidFill>
                <a:latin typeface="Times New Roman"/>
                <a:ea typeface="Times New Roman"/>
                <a:cs typeface="Times New Roman"/>
                <a:sym typeface="Times New Roman"/>
              </a:rPr>
              <a:t>PostureAI uses AI-based pose detection to analyze body posture in real-time and provides feedback, scoring, and alerts to improve user behavior.</a:t>
            </a:r>
            <a:endParaRPr i="1" sz="3200">
              <a:solidFill>
                <a:schemeClr val="lt1"/>
              </a:solidFill>
              <a:latin typeface="Times New Roman"/>
              <a:ea typeface="Times New Roman"/>
              <a:cs typeface="Times New Roman"/>
              <a:sym typeface="Times New Roman"/>
            </a:endParaRPr>
          </a:p>
          <a:p>
            <a:pPr indent="0" lvl="0" marL="914400" marR="0" rtl="0" algn="l">
              <a:lnSpc>
                <a:spcPct val="140011"/>
              </a:lnSpc>
              <a:spcBef>
                <a:spcPts val="0"/>
              </a:spcBef>
              <a:spcAft>
                <a:spcPts val="0"/>
              </a:spcAft>
              <a:buNone/>
            </a:pPr>
            <a:r>
              <a:t/>
            </a:r>
            <a:endParaRPr b="1" sz="3399">
              <a:solidFill>
                <a:srgbClr val="FFFFFF"/>
              </a:solidFill>
              <a:latin typeface="Times"/>
              <a:ea typeface="Times"/>
              <a:cs typeface="Times"/>
              <a:sym typeface="Times"/>
            </a:endParaRPr>
          </a:p>
        </p:txBody>
      </p:sp>
      <p:sp>
        <p:nvSpPr>
          <p:cNvPr id="130" name="Google Shape;130;p16"/>
          <p:cNvSpPr txBox="1"/>
          <p:nvPr/>
        </p:nvSpPr>
        <p:spPr>
          <a:xfrm>
            <a:off x="731000" y="4324425"/>
            <a:ext cx="16587600" cy="50970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List key features :</a:t>
            </a:r>
            <a:r>
              <a:rPr b="1" i="1" lang="en-US" sz="3100" u="none" cap="none" strike="noStrike">
                <a:solidFill>
                  <a:schemeClr val="lt1"/>
                </a:solidFill>
                <a:latin typeface="Times New Roman"/>
                <a:ea typeface="Times New Roman"/>
                <a:cs typeface="Times New Roman"/>
                <a:sym typeface="Times New Roman"/>
              </a:rPr>
              <a:t> </a:t>
            </a:r>
            <a:r>
              <a:rPr i="1" lang="en-US" sz="3100">
                <a:solidFill>
                  <a:schemeClr val="lt1"/>
                </a:solidFill>
                <a:latin typeface="Times New Roman"/>
                <a:ea typeface="Times New Roman"/>
                <a:cs typeface="Times New Roman"/>
                <a:sym typeface="Times New Roman"/>
              </a:rPr>
              <a:t>1. Real-time posture detection using </a:t>
            </a:r>
            <a:r>
              <a:rPr b="1" i="1" lang="en-US" sz="3100" u="sng">
                <a:solidFill>
                  <a:schemeClr val="lt1"/>
                </a:solidFill>
                <a:latin typeface="Times New Roman"/>
                <a:ea typeface="Times New Roman"/>
                <a:cs typeface="Times New Roman"/>
                <a:sym typeface="Times New Roman"/>
              </a:rPr>
              <a:t>MoveNet</a:t>
            </a:r>
            <a:endParaRPr b="1" i="1" sz="3100" u="sng">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2. Angle-based posture analysis</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3. Dynamic posture scoring system</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4. Visual feedback (green/red indicators)</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5. Voice alert system (with mute option)</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6. Posture streak tracking</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7. Smart insights (AI-based suggestions)</a:t>
            </a:r>
            <a:endParaRPr i="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i="1" lang="en-US" sz="3100">
                <a:solidFill>
                  <a:schemeClr val="lt1"/>
                </a:solidFill>
                <a:latin typeface="Times New Roman"/>
                <a:ea typeface="Times New Roman"/>
                <a:cs typeface="Times New Roman"/>
                <a:sym typeface="Times New Roman"/>
              </a:rPr>
              <a:t>                                 8. Break reminder system (planned)</a:t>
            </a:r>
            <a:endParaRPr i="1" sz="3100">
              <a:solidFill>
                <a:schemeClr val="lt1"/>
              </a:solidFill>
              <a:latin typeface="Times New Roman"/>
              <a:ea typeface="Times New Roman"/>
              <a:cs typeface="Times New Roman"/>
              <a:sym typeface="Times New Roman"/>
            </a:endParaRPr>
          </a:p>
          <a:p>
            <a:pPr indent="0" lvl="0" marL="0" marR="0" rtl="0" algn="l">
              <a:lnSpc>
                <a:spcPct val="140011"/>
              </a:lnSpc>
              <a:spcBef>
                <a:spcPts val="0"/>
              </a:spcBef>
              <a:spcAft>
                <a:spcPts val="0"/>
              </a:spcAft>
              <a:buNone/>
            </a:pPr>
            <a:r>
              <a:t/>
            </a:r>
            <a:endParaRPr b="1" sz="3399">
              <a:solidFill>
                <a:srgbClr val="FFFFFF"/>
              </a:solidFill>
              <a:latin typeface="Times"/>
              <a:ea typeface="Times"/>
              <a:cs typeface="Times"/>
              <a:sym typeface="Times"/>
            </a:endParaRPr>
          </a:p>
        </p:txBody>
      </p:sp>
      <p:sp>
        <p:nvSpPr>
          <p:cNvPr id="131" name="Google Shape;131;p16"/>
          <p:cNvSpPr txBox="1"/>
          <p:nvPr/>
        </p:nvSpPr>
        <p:spPr>
          <a:xfrm>
            <a:off x="731000" y="9011425"/>
            <a:ext cx="17145000" cy="18777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Explain how it solves the problem :</a:t>
            </a:r>
            <a:r>
              <a:rPr b="1" lang="en-US" sz="3399">
                <a:solidFill>
                  <a:srgbClr val="FFFFFF"/>
                </a:solidFill>
                <a:latin typeface="Times"/>
                <a:ea typeface="Times"/>
                <a:cs typeface="Times"/>
                <a:sym typeface="Times"/>
              </a:rPr>
              <a:t> </a:t>
            </a:r>
            <a:r>
              <a:rPr i="1" lang="en-US" sz="3100">
                <a:solidFill>
                  <a:srgbClr val="FFFFFF"/>
                </a:solidFill>
                <a:latin typeface="Times New Roman"/>
                <a:ea typeface="Times New Roman"/>
                <a:cs typeface="Times New Roman"/>
                <a:sym typeface="Times New Roman"/>
              </a:rPr>
              <a:t>Our system uses the device camera and AI-based pose detection to monitor posture in real time and analyze body alignment. It then provides instant alerts, visual feedback, and posture scoring to help users correct their habits and take timely breaks</a:t>
            </a:r>
            <a:endParaRPr b="1" i="1" sz="3100">
              <a:solidFill>
                <a:srgbClr val="FFFFFF"/>
              </a:solidFill>
              <a:latin typeface="Times New Roman"/>
              <a:ea typeface="Times New Roman"/>
              <a:cs typeface="Times New Roman"/>
              <a:sym typeface="Times New Roman"/>
            </a:endParaRPr>
          </a:p>
        </p:txBody>
      </p:sp>
      <p:grpSp>
        <p:nvGrpSpPr>
          <p:cNvPr id="132" name="Google Shape;132;p16"/>
          <p:cNvGrpSpPr/>
          <p:nvPr/>
        </p:nvGrpSpPr>
        <p:grpSpPr>
          <a:xfrm>
            <a:off x="1028700" y="1460494"/>
            <a:ext cx="16230600" cy="302551"/>
            <a:chOff x="0" y="-38100"/>
            <a:chExt cx="4052983" cy="75550"/>
          </a:xfrm>
        </p:grpSpPr>
        <p:sp>
          <p:nvSpPr>
            <p:cNvPr id="133" name="Google Shape;133;p16"/>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34" name="Google Shape;134;p16"/>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 name="Google Shape;135;p16"/>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36" name="Google Shape;136;p16"/>
          <p:cNvSpPr/>
          <p:nvPr/>
        </p:nvSpPr>
        <p:spPr>
          <a:xfrm>
            <a:off x="15978674" y="-1"/>
            <a:ext cx="2308583" cy="2209555"/>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p:nvPr/>
        </p:nvSpPr>
        <p:spPr>
          <a:xfrm>
            <a:off x="0" y="0"/>
            <a:ext cx="18288000" cy="11341418"/>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42" name="Google Shape;142;p17"/>
          <p:cNvSpPr txBox="1"/>
          <p:nvPr/>
        </p:nvSpPr>
        <p:spPr>
          <a:xfrm>
            <a:off x="5742232" y="314447"/>
            <a:ext cx="70995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 SYSTEM ARCHITECTURE</a:t>
            </a:r>
            <a:endParaRPr/>
          </a:p>
        </p:txBody>
      </p:sp>
      <p:sp>
        <p:nvSpPr>
          <p:cNvPr id="143" name="Google Shape;143;p17"/>
          <p:cNvSpPr txBox="1"/>
          <p:nvPr/>
        </p:nvSpPr>
        <p:spPr>
          <a:xfrm>
            <a:off x="963898" y="2161245"/>
            <a:ext cx="10599000" cy="35883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Mention main components (Frontend, Backend, Database, APIs) :</a:t>
            </a:r>
            <a:endParaRPr b="1" i="0" sz="3399" u="none" cap="none" strike="noStrike">
              <a:solidFill>
                <a:srgbClr val="FFFFFF"/>
              </a:solidFill>
              <a:latin typeface="Times"/>
              <a:ea typeface="Times"/>
              <a:cs typeface="Times"/>
              <a:sym typeface="Times"/>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1. Frontend: React + Vite</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2. AI Model: TensorFlow.js (MoveNet)</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3. Styling: Tailwind CSS</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4. Deployment: Vercel/Netlify</a:t>
            </a:r>
            <a:endParaRPr b="1" sz="3100">
              <a:solidFill>
                <a:schemeClr val="lt1"/>
              </a:solidFill>
              <a:latin typeface="Times New Roman"/>
              <a:ea typeface="Times New Roman"/>
              <a:cs typeface="Times New Roman"/>
              <a:sym typeface="Times New Roman"/>
            </a:endParaRPr>
          </a:p>
        </p:txBody>
      </p:sp>
      <p:sp>
        <p:nvSpPr>
          <p:cNvPr id="144" name="Google Shape;144;p17"/>
          <p:cNvSpPr txBox="1"/>
          <p:nvPr/>
        </p:nvSpPr>
        <p:spPr>
          <a:xfrm>
            <a:off x="963905" y="5749550"/>
            <a:ext cx="16360200" cy="12096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Explain data flow briefly :</a:t>
            </a:r>
            <a:r>
              <a:rPr b="1" i="0" lang="en-US" sz="3100" u="none" cap="none" strike="noStrike">
                <a:solidFill>
                  <a:schemeClr val="lt1"/>
                </a:solidFill>
                <a:latin typeface="Times New Roman"/>
                <a:ea typeface="Times New Roman"/>
                <a:cs typeface="Times New Roman"/>
                <a:sym typeface="Times New Roman"/>
              </a:rPr>
              <a:t> </a:t>
            </a:r>
            <a:r>
              <a:rPr lang="en-US" sz="3100">
                <a:solidFill>
                  <a:schemeClr val="lt1"/>
                </a:solidFill>
                <a:latin typeface="Times New Roman"/>
                <a:ea typeface="Times New Roman"/>
                <a:cs typeface="Times New Roman"/>
                <a:sym typeface="Times New Roman"/>
              </a:rPr>
              <a:t>Webcam Input → Pose Detection Model → Keypoints Extraction → Posture Logic → UI Update + Alerts</a:t>
            </a:r>
            <a:endParaRPr b="1" sz="3399">
              <a:solidFill>
                <a:srgbClr val="FFFFFF"/>
              </a:solidFill>
              <a:latin typeface="Times"/>
              <a:ea typeface="Times"/>
              <a:cs typeface="Times"/>
              <a:sym typeface="Times"/>
            </a:endParaRPr>
          </a:p>
        </p:txBody>
      </p:sp>
      <p:grpSp>
        <p:nvGrpSpPr>
          <p:cNvPr id="145" name="Google Shape;145;p17"/>
          <p:cNvGrpSpPr/>
          <p:nvPr/>
        </p:nvGrpSpPr>
        <p:grpSpPr>
          <a:xfrm>
            <a:off x="1176693" y="1086582"/>
            <a:ext cx="16230576" cy="302548"/>
            <a:chOff x="0" y="-38100"/>
            <a:chExt cx="4052983" cy="75550"/>
          </a:xfrm>
        </p:grpSpPr>
        <p:sp>
          <p:nvSpPr>
            <p:cNvPr id="146" name="Google Shape;146;p17"/>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47" name="Google Shape;147;p17"/>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8" name="Google Shape;148;p17"/>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49" name="Google Shape;149;p17"/>
          <p:cNvSpPr/>
          <p:nvPr/>
        </p:nvSpPr>
        <p:spPr>
          <a:xfrm>
            <a:off x="1581906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pic>
        <p:nvPicPr>
          <p:cNvPr id="150" name="Google Shape;150;p17" title="diagram-export-2-4-2026-5_06_13-PM.png"/>
          <p:cNvPicPr preferRelativeResize="0"/>
          <p:nvPr/>
        </p:nvPicPr>
        <p:blipFill rotWithShape="1">
          <a:blip r:embed="rId6">
            <a:alphaModFix/>
          </a:blip>
          <a:srcRect b="17355" l="0" r="0" t="0"/>
          <a:stretch/>
        </p:blipFill>
        <p:spPr>
          <a:xfrm>
            <a:off x="0" y="7088375"/>
            <a:ext cx="18288000" cy="4253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56" name="Google Shape;156;p18"/>
          <p:cNvSpPr txBox="1"/>
          <p:nvPr/>
        </p:nvSpPr>
        <p:spPr>
          <a:xfrm>
            <a:off x="3954735" y="624497"/>
            <a:ext cx="108963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FLOWCHART  /  WORKING PROCESS </a:t>
            </a:r>
            <a:endParaRPr/>
          </a:p>
        </p:txBody>
      </p:sp>
      <p:grpSp>
        <p:nvGrpSpPr>
          <p:cNvPr id="157" name="Google Shape;157;p18"/>
          <p:cNvGrpSpPr/>
          <p:nvPr/>
        </p:nvGrpSpPr>
        <p:grpSpPr>
          <a:xfrm>
            <a:off x="1287580" y="1396630"/>
            <a:ext cx="16230600" cy="302551"/>
            <a:chOff x="0" y="-38100"/>
            <a:chExt cx="4052983" cy="75550"/>
          </a:xfrm>
        </p:grpSpPr>
        <p:sp>
          <p:nvSpPr>
            <p:cNvPr id="158" name="Google Shape;158;p18"/>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59" name="Google Shape;159;p18"/>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18"/>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61" name="Google Shape;161;p18"/>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pic>
        <p:nvPicPr>
          <p:cNvPr id="162" name="Google Shape;162;p18" title="diagram-export-2-4-2026-7_33_41-PM.png"/>
          <p:cNvPicPr preferRelativeResize="0"/>
          <p:nvPr/>
        </p:nvPicPr>
        <p:blipFill>
          <a:blip r:embed="rId6">
            <a:alphaModFix/>
          </a:blip>
          <a:stretch>
            <a:fillRect/>
          </a:stretch>
        </p:blipFill>
        <p:spPr>
          <a:xfrm>
            <a:off x="2730425" y="2822625"/>
            <a:ext cx="13344899" cy="64144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68" name="Google Shape;168;p19"/>
          <p:cNvSpPr txBox="1"/>
          <p:nvPr/>
        </p:nvSpPr>
        <p:spPr>
          <a:xfrm>
            <a:off x="7294513" y="466131"/>
            <a:ext cx="3699000" cy="18468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FFFFFF"/>
                </a:solidFill>
                <a:latin typeface="Times"/>
                <a:ea typeface="Times"/>
                <a:cs typeface="Times"/>
                <a:sym typeface="Times"/>
              </a:rPr>
              <a:t>TECH  STACK</a:t>
            </a:r>
            <a:endParaRPr/>
          </a:p>
        </p:txBody>
      </p:sp>
      <p:sp>
        <p:nvSpPr>
          <p:cNvPr id="169" name="Google Shape;169;p19"/>
          <p:cNvSpPr txBox="1"/>
          <p:nvPr/>
        </p:nvSpPr>
        <p:spPr>
          <a:xfrm>
            <a:off x="487325" y="2669600"/>
            <a:ext cx="17800800" cy="8400300"/>
          </a:xfrm>
          <a:prstGeom prst="rect">
            <a:avLst/>
          </a:prstGeom>
          <a:noFill/>
          <a:ln>
            <a:noFill/>
          </a:ln>
        </p:spPr>
        <p:txBody>
          <a:bodyPr anchorCtr="0" anchor="t" bIns="0" lIns="0" spcFirstLastPara="1" rIns="0" wrap="square" tIns="0">
            <a:spAutoFit/>
          </a:bodyPr>
          <a:lstStyle/>
          <a:p>
            <a:pPr indent="0" lvl="0" marL="914400" rtl="0" algn="l">
              <a:lnSpc>
                <a:spcPct val="115000"/>
              </a:lnSpc>
              <a:spcBef>
                <a:spcPts val="0"/>
              </a:spcBef>
              <a:spcAft>
                <a:spcPts val="0"/>
              </a:spcAft>
              <a:buNone/>
            </a:pPr>
            <a:r>
              <a:rPr b="1" lang="en-US" sz="4100">
                <a:solidFill>
                  <a:schemeClr val="lt1"/>
                </a:solidFill>
                <a:latin typeface="Times"/>
                <a:ea typeface="Times"/>
                <a:cs typeface="Times"/>
                <a:sym typeface="Times"/>
              </a:rPr>
              <a:t>1. </a:t>
            </a:r>
            <a:r>
              <a:rPr b="1" lang="en-US" sz="4100" u="sng">
                <a:solidFill>
                  <a:schemeClr val="lt1"/>
                </a:solidFill>
                <a:latin typeface="Times"/>
                <a:ea typeface="Times"/>
                <a:cs typeface="Times"/>
                <a:sym typeface="Times"/>
              </a:rPr>
              <a:t>Frontend</a:t>
            </a:r>
            <a:r>
              <a:rPr b="1" lang="en-US" sz="4100">
                <a:solidFill>
                  <a:schemeClr val="lt1"/>
                </a:solidFill>
                <a:latin typeface="Times"/>
                <a:ea typeface="Times"/>
                <a:cs typeface="Times"/>
                <a:sym typeface="Times"/>
              </a:rPr>
              <a:t> :</a:t>
            </a:r>
            <a:r>
              <a:rPr lang="en-US" sz="4100">
                <a:solidFill>
                  <a:schemeClr val="lt1"/>
                </a:solidFill>
                <a:latin typeface="Times New Roman"/>
                <a:ea typeface="Times New Roman"/>
                <a:cs typeface="Times New Roman"/>
                <a:sym typeface="Times New Roman"/>
              </a:rPr>
              <a:t> React + Vite</a:t>
            </a:r>
            <a:endParaRPr sz="4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US" sz="4100">
                <a:solidFill>
                  <a:schemeClr val="lt1"/>
                </a:solidFill>
                <a:latin typeface="Times"/>
                <a:ea typeface="Times"/>
                <a:cs typeface="Times"/>
                <a:sym typeface="Times"/>
              </a:rPr>
              <a:t>2. </a:t>
            </a:r>
            <a:r>
              <a:rPr b="1" lang="en-US" sz="4100" u="sng">
                <a:solidFill>
                  <a:schemeClr val="lt1"/>
                </a:solidFill>
                <a:latin typeface="Times"/>
                <a:ea typeface="Times"/>
                <a:cs typeface="Times"/>
                <a:sym typeface="Times"/>
              </a:rPr>
              <a:t>AI Model</a:t>
            </a:r>
            <a:r>
              <a:rPr b="1" lang="en-US" sz="4100">
                <a:solidFill>
                  <a:schemeClr val="lt1"/>
                </a:solidFill>
                <a:latin typeface="Times"/>
                <a:ea typeface="Times"/>
                <a:cs typeface="Times"/>
                <a:sym typeface="Times"/>
              </a:rPr>
              <a:t> :</a:t>
            </a:r>
            <a:r>
              <a:rPr lang="en-US" sz="4100">
                <a:solidFill>
                  <a:schemeClr val="lt1"/>
                </a:solidFill>
                <a:latin typeface="Times New Roman"/>
                <a:ea typeface="Times New Roman"/>
                <a:cs typeface="Times New Roman"/>
                <a:sym typeface="Times New Roman"/>
              </a:rPr>
              <a:t> TensorFlow.js (MoveNet)</a:t>
            </a:r>
            <a:endParaRPr sz="41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4100">
                <a:solidFill>
                  <a:schemeClr val="lt1"/>
                </a:solidFill>
                <a:latin typeface="Times New Roman"/>
                <a:ea typeface="Times New Roman"/>
                <a:cs typeface="Times New Roman"/>
                <a:sym typeface="Times New Roman"/>
              </a:rPr>
              <a:t>       </a:t>
            </a:r>
            <a:r>
              <a:rPr b="1" lang="en-US" sz="4100">
                <a:solidFill>
                  <a:schemeClr val="lt1"/>
                </a:solidFill>
                <a:latin typeface="Times"/>
                <a:ea typeface="Times"/>
                <a:cs typeface="Times"/>
                <a:sym typeface="Times"/>
              </a:rPr>
              <a:t>3. </a:t>
            </a:r>
            <a:r>
              <a:rPr b="1" lang="en-US" sz="4100" u="sng">
                <a:solidFill>
                  <a:schemeClr val="lt1"/>
                </a:solidFill>
                <a:latin typeface="Times"/>
                <a:ea typeface="Times"/>
                <a:cs typeface="Times"/>
                <a:sym typeface="Times"/>
              </a:rPr>
              <a:t>Styling</a:t>
            </a:r>
            <a:r>
              <a:rPr b="1" lang="en-US" sz="4100">
                <a:solidFill>
                  <a:schemeClr val="lt1"/>
                </a:solidFill>
                <a:latin typeface="Times"/>
                <a:ea typeface="Times"/>
                <a:cs typeface="Times"/>
                <a:sym typeface="Times"/>
              </a:rPr>
              <a:t> :</a:t>
            </a:r>
            <a:r>
              <a:rPr lang="en-US" sz="4100">
                <a:solidFill>
                  <a:schemeClr val="lt1"/>
                </a:solidFill>
                <a:latin typeface="Times New Roman"/>
                <a:ea typeface="Times New Roman"/>
                <a:cs typeface="Times New Roman"/>
                <a:sym typeface="Times New Roman"/>
              </a:rPr>
              <a:t> Tailwind CSS</a:t>
            </a:r>
            <a:endParaRPr sz="4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US" sz="4100">
                <a:solidFill>
                  <a:schemeClr val="lt1"/>
                </a:solidFill>
                <a:latin typeface="Times"/>
                <a:ea typeface="Times"/>
                <a:cs typeface="Times"/>
                <a:sym typeface="Times"/>
              </a:rPr>
              <a:t>4. </a:t>
            </a:r>
            <a:r>
              <a:rPr b="1" lang="en-US" sz="4100" u="sng">
                <a:solidFill>
                  <a:schemeClr val="lt1"/>
                </a:solidFill>
                <a:latin typeface="Times"/>
                <a:ea typeface="Times"/>
                <a:cs typeface="Times"/>
                <a:sym typeface="Times"/>
              </a:rPr>
              <a:t>D</a:t>
            </a:r>
            <a:r>
              <a:rPr b="1" lang="en-US" sz="4050" u="sng">
                <a:solidFill>
                  <a:schemeClr val="lt1"/>
                </a:solidFill>
                <a:latin typeface="Times"/>
                <a:ea typeface="Times"/>
                <a:cs typeface="Times"/>
                <a:sym typeface="Times"/>
              </a:rPr>
              <a:t>eployment</a:t>
            </a:r>
            <a:r>
              <a:rPr b="1" lang="en-US" sz="4050">
                <a:solidFill>
                  <a:schemeClr val="lt1"/>
                </a:solidFill>
                <a:latin typeface="Times"/>
                <a:ea typeface="Times"/>
                <a:cs typeface="Times"/>
                <a:sym typeface="Times"/>
              </a:rPr>
              <a:t> :</a:t>
            </a:r>
            <a:r>
              <a:rPr lang="en-US" sz="4050">
                <a:solidFill>
                  <a:schemeClr val="lt1"/>
                </a:solidFill>
                <a:latin typeface="Times New Roman"/>
                <a:ea typeface="Times New Roman"/>
                <a:cs typeface="Times New Roman"/>
                <a:sym typeface="Times New Roman"/>
              </a:rPr>
              <a:t> Vercel/Netlify</a:t>
            </a:r>
            <a:endParaRPr sz="405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4050">
              <a:solidFill>
                <a:schemeClr val="lt1"/>
              </a:solidFill>
              <a:latin typeface="Times New Roman"/>
              <a:ea typeface="Times New Roman"/>
              <a:cs typeface="Times New Roman"/>
              <a:sym typeface="Times New Roman"/>
            </a:endParaRPr>
          </a:p>
          <a:p>
            <a:pPr indent="0" lvl="0" marL="914400" marR="0" rtl="0" algn="l">
              <a:lnSpc>
                <a:spcPct val="140011"/>
              </a:lnSpc>
              <a:spcBef>
                <a:spcPts val="0"/>
              </a:spcBef>
              <a:spcAft>
                <a:spcPts val="0"/>
              </a:spcAft>
              <a:buNone/>
            </a:pPr>
            <a:r>
              <a:rPr b="1" i="0" lang="en-US" sz="3499" u="none" cap="none" strike="noStrike">
                <a:solidFill>
                  <a:srgbClr val="FFFFFF"/>
                </a:solidFill>
                <a:latin typeface="Times"/>
                <a:ea typeface="Times"/>
                <a:cs typeface="Times"/>
                <a:sym typeface="Times"/>
              </a:rPr>
              <a:t>Tools and APIs used and </a:t>
            </a:r>
            <a:r>
              <a:rPr b="1" i="0" lang="en-US" sz="3499" u="none" cap="none" strike="noStrike">
                <a:solidFill>
                  <a:srgbClr val="FFFFFF"/>
                </a:solidFill>
                <a:latin typeface="Times New Roman"/>
                <a:ea typeface="Times New Roman"/>
                <a:cs typeface="Times New Roman"/>
                <a:sym typeface="Times New Roman"/>
              </a:rPr>
              <a:t>r</a:t>
            </a:r>
            <a:r>
              <a:rPr b="1" i="0" lang="en-US" sz="3499" u="none" cap="none" strike="noStrike">
                <a:solidFill>
                  <a:srgbClr val="FFFFFF"/>
                </a:solidFill>
                <a:latin typeface="Times"/>
                <a:ea typeface="Times"/>
                <a:cs typeface="Times"/>
                <a:sym typeface="Times"/>
              </a:rPr>
              <a:t>eason for choosing each (1 line each) : </a:t>
            </a:r>
            <a:endParaRPr b="1" i="0" sz="3499" u="none" cap="none" strike="noStrike">
              <a:solidFill>
                <a:srgbClr val="FFFFFF"/>
              </a:solidFill>
              <a:latin typeface="Times"/>
              <a:ea typeface="Times"/>
              <a:cs typeface="Times"/>
              <a:sym typeface="Times"/>
            </a:endParaRPr>
          </a:p>
          <a:p>
            <a:pPr indent="0" lvl="0" marL="0" marR="0" rtl="0" algn="l">
              <a:lnSpc>
                <a:spcPct val="140011"/>
              </a:lnSpc>
              <a:spcBef>
                <a:spcPts val="0"/>
              </a:spcBef>
              <a:spcAft>
                <a:spcPts val="0"/>
              </a:spcAft>
              <a:buNone/>
            </a:pPr>
            <a:r>
              <a:rPr b="1" lang="en-US" sz="3000">
                <a:solidFill>
                  <a:srgbClr val="FFFFFF"/>
                </a:solidFill>
                <a:latin typeface="Times"/>
                <a:ea typeface="Times"/>
                <a:cs typeface="Times"/>
                <a:sym typeface="Times"/>
              </a:rPr>
              <a:t>          </a:t>
            </a:r>
            <a:r>
              <a:rPr b="1" lang="en-US" sz="3000" u="sng">
                <a:solidFill>
                  <a:srgbClr val="FFFFFF"/>
                </a:solidFill>
                <a:latin typeface="Times"/>
                <a:ea typeface="Times"/>
                <a:cs typeface="Times"/>
                <a:sym typeface="Times"/>
              </a:rPr>
              <a:t>React + Vite</a:t>
            </a:r>
            <a:r>
              <a:rPr b="1" lang="en-US" sz="3000">
                <a:solidFill>
                  <a:srgbClr val="FFFFFF"/>
                </a:solidFill>
                <a:latin typeface="Times"/>
                <a:ea typeface="Times"/>
                <a:cs typeface="Times"/>
                <a:sym typeface="Times"/>
              </a:rPr>
              <a:t> :</a:t>
            </a:r>
            <a:r>
              <a:rPr lang="en-US" sz="3000">
                <a:solidFill>
                  <a:srgbClr val="FFFFFF"/>
                </a:solidFill>
                <a:latin typeface="Times"/>
                <a:ea typeface="Times"/>
                <a:cs typeface="Times"/>
                <a:sym typeface="Times"/>
              </a:rPr>
              <a:t> Used for building a fast and responsive user interface with efficient development.</a:t>
            </a:r>
            <a:endParaRPr sz="3000">
              <a:solidFill>
                <a:srgbClr val="FFFFFF"/>
              </a:solidFill>
              <a:latin typeface="Times"/>
              <a:ea typeface="Times"/>
              <a:cs typeface="Times"/>
              <a:sym typeface="Times"/>
            </a:endParaRPr>
          </a:p>
          <a:p>
            <a:pPr indent="0" lvl="0" marL="0" rtl="0" algn="l">
              <a:lnSpc>
                <a:spcPct val="115000"/>
              </a:lnSpc>
              <a:spcBef>
                <a:spcPts val="0"/>
              </a:spcBef>
              <a:spcAft>
                <a:spcPts val="0"/>
              </a:spcAft>
              <a:buClr>
                <a:srgbClr val="FFFFFF"/>
              </a:buClr>
              <a:buSzPts val="1100"/>
              <a:buFont typeface="Arial"/>
              <a:buNone/>
            </a:pPr>
            <a:r>
              <a:rPr b="1" lang="en-US" sz="3000">
                <a:solidFill>
                  <a:srgbClr val="FFFFFF"/>
                </a:solidFill>
                <a:latin typeface="Times"/>
                <a:ea typeface="Times"/>
                <a:cs typeface="Times"/>
                <a:sym typeface="Times"/>
              </a:rPr>
              <a:t>          </a:t>
            </a:r>
            <a:r>
              <a:rPr b="1" lang="en-US" sz="3000" u="sng">
                <a:solidFill>
                  <a:srgbClr val="FFFFFF"/>
                </a:solidFill>
                <a:latin typeface="Times"/>
                <a:ea typeface="Times"/>
                <a:cs typeface="Times"/>
                <a:sym typeface="Times"/>
              </a:rPr>
              <a:t>TensorFlow.js</a:t>
            </a:r>
            <a:r>
              <a:rPr b="1" lang="en-US" sz="3000">
                <a:solidFill>
                  <a:srgbClr val="FFFFFF"/>
                </a:solidFill>
                <a:latin typeface="Times"/>
                <a:ea typeface="Times"/>
                <a:cs typeface="Times"/>
                <a:sym typeface="Times"/>
              </a:rPr>
              <a:t> (MoveNet) :</a:t>
            </a:r>
            <a:r>
              <a:rPr lang="en-US" sz="3000">
                <a:solidFill>
                  <a:srgbClr val="FFFFFF"/>
                </a:solidFill>
                <a:latin typeface="Times"/>
                <a:ea typeface="Times"/>
                <a:cs typeface="Times"/>
                <a:sym typeface="Times"/>
              </a:rPr>
              <a:t> Enables real-time posture detection directly in the browser using AI.</a:t>
            </a:r>
            <a:endParaRPr sz="3000">
              <a:solidFill>
                <a:srgbClr val="FFFFFF"/>
              </a:solidFill>
              <a:latin typeface="Times"/>
              <a:ea typeface="Times"/>
              <a:cs typeface="Times"/>
              <a:sym typeface="Times"/>
            </a:endParaRPr>
          </a:p>
          <a:p>
            <a:pPr indent="0" lvl="0" marL="0" rtl="0" algn="l">
              <a:lnSpc>
                <a:spcPct val="115000"/>
              </a:lnSpc>
              <a:spcBef>
                <a:spcPts val="0"/>
              </a:spcBef>
              <a:spcAft>
                <a:spcPts val="0"/>
              </a:spcAft>
              <a:buClr>
                <a:srgbClr val="FFFFFF"/>
              </a:buClr>
              <a:buSzPts val="1100"/>
              <a:buFont typeface="Arial"/>
              <a:buNone/>
            </a:pPr>
            <a:r>
              <a:rPr b="1" lang="en-US" sz="3000">
                <a:solidFill>
                  <a:srgbClr val="FFFFFF"/>
                </a:solidFill>
                <a:latin typeface="Times"/>
                <a:ea typeface="Times"/>
                <a:cs typeface="Times"/>
                <a:sym typeface="Times"/>
              </a:rPr>
              <a:t>          </a:t>
            </a:r>
            <a:r>
              <a:rPr b="1" lang="en-US" sz="3000" u="sng">
                <a:solidFill>
                  <a:srgbClr val="FFFFFF"/>
                </a:solidFill>
                <a:latin typeface="Times"/>
                <a:ea typeface="Times"/>
                <a:cs typeface="Times"/>
                <a:sym typeface="Times"/>
              </a:rPr>
              <a:t>Tailwind CSS </a:t>
            </a:r>
            <a:r>
              <a:rPr b="1" lang="en-US" sz="3000">
                <a:solidFill>
                  <a:srgbClr val="FFFFFF"/>
                </a:solidFill>
                <a:latin typeface="Times"/>
                <a:ea typeface="Times"/>
                <a:cs typeface="Times"/>
                <a:sym typeface="Times"/>
              </a:rPr>
              <a:t>:</a:t>
            </a:r>
            <a:r>
              <a:rPr lang="en-US" sz="3000">
                <a:solidFill>
                  <a:srgbClr val="FFFFFF"/>
                </a:solidFill>
                <a:latin typeface="Times"/>
                <a:ea typeface="Times"/>
                <a:cs typeface="Times"/>
                <a:sym typeface="Times"/>
              </a:rPr>
              <a:t> Provides quick and flexible styling for a clean and modern UI.</a:t>
            </a:r>
            <a:endParaRPr sz="3000">
              <a:solidFill>
                <a:srgbClr val="FFFFFF"/>
              </a:solidFill>
              <a:latin typeface="Times"/>
              <a:ea typeface="Times"/>
              <a:cs typeface="Times"/>
              <a:sym typeface="Times"/>
            </a:endParaRPr>
          </a:p>
          <a:p>
            <a:pPr indent="0" lvl="0" marL="0" rtl="0" algn="l">
              <a:lnSpc>
                <a:spcPct val="115000"/>
              </a:lnSpc>
              <a:spcBef>
                <a:spcPts val="0"/>
              </a:spcBef>
              <a:spcAft>
                <a:spcPts val="0"/>
              </a:spcAft>
              <a:buClr>
                <a:srgbClr val="FFFFFF"/>
              </a:buClr>
              <a:buSzPts val="1100"/>
              <a:buFont typeface="Arial"/>
              <a:buNone/>
            </a:pPr>
            <a:r>
              <a:rPr b="1" lang="en-US" sz="3000">
                <a:solidFill>
                  <a:srgbClr val="FFFFFF"/>
                </a:solidFill>
                <a:latin typeface="Times"/>
                <a:ea typeface="Times"/>
                <a:cs typeface="Times"/>
                <a:sym typeface="Times"/>
              </a:rPr>
              <a:t>          </a:t>
            </a:r>
            <a:r>
              <a:rPr b="1" lang="en-US" sz="3000" u="sng">
                <a:solidFill>
                  <a:srgbClr val="FFFFFF"/>
                </a:solidFill>
                <a:latin typeface="Times"/>
                <a:ea typeface="Times"/>
                <a:cs typeface="Times"/>
                <a:sym typeface="Times"/>
              </a:rPr>
              <a:t>Webcam API </a:t>
            </a:r>
            <a:r>
              <a:rPr b="1" lang="en-US" sz="3000">
                <a:solidFill>
                  <a:srgbClr val="FFFFFF"/>
                </a:solidFill>
                <a:latin typeface="Times"/>
                <a:ea typeface="Times"/>
                <a:cs typeface="Times"/>
                <a:sym typeface="Times"/>
              </a:rPr>
              <a:t>:</a:t>
            </a:r>
            <a:r>
              <a:rPr lang="en-US" sz="3000">
                <a:solidFill>
                  <a:srgbClr val="FFFFFF"/>
                </a:solidFill>
                <a:latin typeface="Times"/>
                <a:ea typeface="Times"/>
                <a:cs typeface="Times"/>
                <a:sym typeface="Times"/>
              </a:rPr>
              <a:t> Allows access to the device camera for live posture monitoring.</a:t>
            </a:r>
            <a:endParaRPr sz="3000">
              <a:solidFill>
                <a:srgbClr val="FFFFFF"/>
              </a:solidFill>
              <a:latin typeface="Times"/>
              <a:ea typeface="Times"/>
              <a:cs typeface="Times"/>
              <a:sym typeface="Times"/>
            </a:endParaRPr>
          </a:p>
          <a:p>
            <a:pPr indent="0" lvl="0" marL="0" rtl="0" algn="l">
              <a:lnSpc>
                <a:spcPct val="115000"/>
              </a:lnSpc>
              <a:spcBef>
                <a:spcPts val="0"/>
              </a:spcBef>
              <a:spcAft>
                <a:spcPts val="0"/>
              </a:spcAft>
              <a:buClr>
                <a:srgbClr val="FFFFFF"/>
              </a:buClr>
              <a:buSzPts val="1100"/>
              <a:buFont typeface="Arial"/>
              <a:buNone/>
            </a:pPr>
            <a:r>
              <a:rPr b="1" lang="en-US" sz="3000">
                <a:solidFill>
                  <a:srgbClr val="FFFFFF"/>
                </a:solidFill>
                <a:latin typeface="Times"/>
                <a:ea typeface="Times"/>
                <a:cs typeface="Times"/>
                <a:sym typeface="Times"/>
              </a:rPr>
              <a:t>          </a:t>
            </a:r>
            <a:r>
              <a:rPr b="1" lang="en-US" sz="3000" u="sng">
                <a:solidFill>
                  <a:srgbClr val="FFFFFF"/>
                </a:solidFill>
                <a:latin typeface="Times"/>
                <a:ea typeface="Times"/>
                <a:cs typeface="Times"/>
                <a:sym typeface="Times"/>
              </a:rPr>
              <a:t>Web Speech API </a:t>
            </a:r>
            <a:r>
              <a:rPr b="1" lang="en-US" sz="3000">
                <a:solidFill>
                  <a:srgbClr val="FFFFFF"/>
                </a:solidFill>
                <a:latin typeface="Times"/>
                <a:ea typeface="Times"/>
                <a:cs typeface="Times"/>
                <a:sym typeface="Times"/>
              </a:rPr>
              <a:t>:</a:t>
            </a:r>
            <a:r>
              <a:rPr lang="en-US" sz="3000">
                <a:solidFill>
                  <a:srgbClr val="FFFFFF"/>
                </a:solidFill>
                <a:latin typeface="Times"/>
                <a:ea typeface="Times"/>
                <a:cs typeface="Times"/>
                <a:sym typeface="Times"/>
              </a:rPr>
              <a:t> Used for voice alerts to notify users about posture corrections.</a:t>
            </a:r>
            <a:endParaRPr sz="3000">
              <a:solidFill>
                <a:srgbClr val="FFFFFF"/>
              </a:solidFill>
              <a:latin typeface="Times"/>
              <a:ea typeface="Times"/>
              <a:cs typeface="Times"/>
              <a:sym typeface="Times"/>
            </a:endParaRPr>
          </a:p>
          <a:p>
            <a:pPr indent="0" lvl="0" marL="914400" marR="0" rtl="0" algn="l">
              <a:lnSpc>
                <a:spcPct val="140011"/>
              </a:lnSpc>
              <a:spcBef>
                <a:spcPts val="0"/>
              </a:spcBef>
              <a:spcAft>
                <a:spcPts val="0"/>
              </a:spcAft>
              <a:buNone/>
            </a:pPr>
            <a:r>
              <a:t/>
            </a:r>
            <a:endParaRPr b="1" sz="3399">
              <a:solidFill>
                <a:schemeClr val="lt1"/>
              </a:solidFill>
              <a:latin typeface="Times"/>
              <a:ea typeface="Times"/>
              <a:cs typeface="Times"/>
              <a:sym typeface="Times"/>
            </a:endParaRPr>
          </a:p>
          <a:p>
            <a:pPr indent="0" lvl="0" marL="914400" marR="0" rtl="0" algn="l">
              <a:lnSpc>
                <a:spcPct val="140011"/>
              </a:lnSpc>
              <a:spcBef>
                <a:spcPts val="0"/>
              </a:spcBef>
              <a:spcAft>
                <a:spcPts val="0"/>
              </a:spcAft>
              <a:buNone/>
            </a:pPr>
            <a:r>
              <a:t/>
            </a:r>
            <a:endParaRPr b="1" sz="3399">
              <a:solidFill>
                <a:schemeClr val="lt1"/>
              </a:solidFill>
              <a:latin typeface="Times"/>
              <a:ea typeface="Times"/>
              <a:cs typeface="Times"/>
              <a:sym typeface="Times"/>
            </a:endParaRPr>
          </a:p>
        </p:txBody>
      </p:sp>
      <p:grpSp>
        <p:nvGrpSpPr>
          <p:cNvPr id="170" name="Google Shape;170;p19"/>
          <p:cNvGrpSpPr/>
          <p:nvPr/>
        </p:nvGrpSpPr>
        <p:grpSpPr>
          <a:xfrm>
            <a:off x="1028700" y="1253506"/>
            <a:ext cx="16230600" cy="302551"/>
            <a:chOff x="0" y="-38100"/>
            <a:chExt cx="4052983" cy="75550"/>
          </a:xfrm>
        </p:grpSpPr>
        <p:sp>
          <p:nvSpPr>
            <p:cNvPr id="171" name="Google Shape;171;p19"/>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72" name="Google Shape;172;p19"/>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19"/>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74" name="Google Shape;174;p19"/>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pic>
        <p:nvPicPr>
          <p:cNvPr id="175" name="Google Shape;175;p19" title="HD-wallpaper-python-logo-computer-lock-locked-phone-programming.jpg"/>
          <p:cNvPicPr preferRelativeResize="0"/>
          <p:nvPr/>
        </p:nvPicPr>
        <p:blipFill rotWithShape="1">
          <a:blip r:embed="rId6">
            <a:alphaModFix/>
          </a:blip>
          <a:srcRect b="36098" l="27773" r="27769" t="39836"/>
          <a:stretch/>
        </p:blipFill>
        <p:spPr>
          <a:xfrm>
            <a:off x="13954050" y="4363775"/>
            <a:ext cx="2573000" cy="2475698"/>
          </a:xfrm>
          <a:prstGeom prst="rect">
            <a:avLst/>
          </a:prstGeom>
          <a:noFill/>
          <a:ln>
            <a:noFill/>
          </a:ln>
        </p:spPr>
      </p:pic>
      <p:pic>
        <p:nvPicPr>
          <p:cNvPr id="176" name="Google Shape;176;p19" title="images-2.jpeg"/>
          <p:cNvPicPr preferRelativeResize="0"/>
          <p:nvPr/>
        </p:nvPicPr>
        <p:blipFill>
          <a:blip r:embed="rId7">
            <a:alphaModFix/>
          </a:blip>
          <a:stretch>
            <a:fillRect/>
          </a:stretch>
        </p:blipFill>
        <p:spPr>
          <a:xfrm>
            <a:off x="12105975" y="2633675"/>
            <a:ext cx="2867025" cy="1590675"/>
          </a:xfrm>
          <a:prstGeom prst="rect">
            <a:avLst/>
          </a:prstGeom>
          <a:noFill/>
          <a:ln>
            <a:noFill/>
          </a:ln>
        </p:spPr>
      </p:pic>
      <p:pic>
        <p:nvPicPr>
          <p:cNvPr id="177" name="Google Shape;177;p19" title="images.jpeg"/>
          <p:cNvPicPr preferRelativeResize="0"/>
          <p:nvPr/>
        </p:nvPicPr>
        <p:blipFill>
          <a:blip r:embed="rId8">
            <a:alphaModFix/>
          </a:blip>
          <a:stretch>
            <a:fillRect/>
          </a:stretch>
        </p:blipFill>
        <p:spPr>
          <a:xfrm>
            <a:off x="14972999" y="2312927"/>
            <a:ext cx="2867026" cy="1809898"/>
          </a:xfrm>
          <a:prstGeom prst="rect">
            <a:avLst/>
          </a:prstGeom>
          <a:noFill/>
          <a:ln>
            <a:noFill/>
          </a:ln>
        </p:spPr>
      </p:pic>
      <p:pic>
        <p:nvPicPr>
          <p:cNvPr id="178" name="Google Shape;178;p19" title="twitter-card-2.png"/>
          <p:cNvPicPr preferRelativeResize="0"/>
          <p:nvPr/>
        </p:nvPicPr>
        <p:blipFill rotWithShape="1">
          <a:blip r:embed="rId9">
            <a:alphaModFix/>
          </a:blip>
          <a:srcRect b="26493" l="33506" r="33506" t="26493"/>
          <a:stretch/>
        </p:blipFill>
        <p:spPr>
          <a:xfrm>
            <a:off x="11756175" y="4718200"/>
            <a:ext cx="1519652" cy="1218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74375" y="0"/>
            <a:ext cx="18288000" cy="1180433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84" name="Google Shape;184;p20"/>
          <p:cNvSpPr txBox="1"/>
          <p:nvPr/>
        </p:nvSpPr>
        <p:spPr>
          <a:xfrm>
            <a:off x="5641957" y="534908"/>
            <a:ext cx="70041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FFFFFF"/>
                </a:solidFill>
                <a:latin typeface="Times"/>
                <a:ea typeface="Times"/>
                <a:cs typeface="Times"/>
                <a:sym typeface="Times"/>
              </a:rPr>
              <a:t>IMPLEMENTATION  PLAN</a:t>
            </a:r>
            <a:endParaRPr/>
          </a:p>
        </p:txBody>
      </p:sp>
      <p:sp>
        <p:nvSpPr>
          <p:cNvPr id="185" name="Google Shape;185;p20"/>
          <p:cNvSpPr txBox="1"/>
          <p:nvPr/>
        </p:nvSpPr>
        <p:spPr>
          <a:xfrm>
            <a:off x="1016277" y="2651700"/>
            <a:ext cx="16106700" cy="8538000"/>
          </a:xfrm>
          <a:prstGeom prst="rect">
            <a:avLst/>
          </a:prstGeom>
          <a:noFill/>
          <a:ln>
            <a:noFill/>
          </a:ln>
        </p:spPr>
        <p:txBody>
          <a:bodyPr anchorCtr="0" anchor="t" bIns="0" lIns="0" spcFirstLastPara="1" rIns="0" wrap="square" tIns="0">
            <a:spAutoFit/>
          </a:bodyPr>
          <a:lstStyle/>
          <a:p>
            <a:pPr indent="-367030" lvl="1" marL="734059"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Step-by-step development plan :</a:t>
            </a:r>
            <a:endParaRPr b="1" i="0" sz="3399" u="none" cap="none" strike="noStrike">
              <a:solidFill>
                <a:srgbClr val="FFFFFF"/>
              </a:solidFill>
              <a:latin typeface="Times"/>
              <a:ea typeface="Times"/>
              <a:cs typeface="Times"/>
              <a:sym typeface="Times"/>
            </a:endParaRPr>
          </a:p>
          <a:p>
            <a:pPr indent="0" lvl="0" marL="91440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         1. Problem Understanding</a:t>
            </a:r>
            <a:endParaRPr sz="31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         2. Core AI Setup</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3. Posture Detection Logic</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4. Real-Time Feedback System</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5. Scoring System</a:t>
            </a:r>
            <a:endParaRPr sz="31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         6. Behavior Correction Features</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7. Gamification Layer</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8. UI/UX Design</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9. Multi-Page Architecture</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US" sz="3100">
                <a:solidFill>
                  <a:schemeClr val="lt1"/>
                </a:solidFill>
                <a:latin typeface="Times New Roman"/>
                <a:ea typeface="Times New Roman"/>
                <a:cs typeface="Times New Roman"/>
                <a:sym typeface="Times New Roman"/>
              </a:rPr>
              <a:t>10. User Education Layer</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i="1" lang="en-US" sz="3100">
                <a:solidFill>
                  <a:schemeClr val="lt1"/>
                </a:solidFill>
              </a:rPr>
              <a:t>“Our focus was not just detection, but creating a system that actively improves user behavior through real-time feedback and engagement.”</a:t>
            </a:r>
            <a:endParaRPr b="1" i="1" sz="3100">
              <a:solidFill>
                <a:schemeClr val="lt1"/>
              </a:solidFill>
            </a:endParaRPr>
          </a:p>
          <a:p>
            <a:pPr indent="0" lvl="0" marL="0" rtl="0" algn="l">
              <a:lnSpc>
                <a:spcPct val="115000"/>
              </a:lnSpc>
              <a:spcBef>
                <a:spcPts val="0"/>
              </a:spcBef>
              <a:spcAft>
                <a:spcPts val="0"/>
              </a:spcAft>
              <a:buNone/>
            </a:pPr>
            <a:r>
              <a:t/>
            </a:r>
            <a:endParaRPr b="1" sz="3100">
              <a:solidFill>
                <a:schemeClr val="lt1"/>
              </a:solidFill>
              <a:latin typeface="Times"/>
              <a:ea typeface="Times"/>
              <a:cs typeface="Times"/>
              <a:sym typeface="Times"/>
            </a:endParaRPr>
          </a:p>
        </p:txBody>
      </p:sp>
      <p:grpSp>
        <p:nvGrpSpPr>
          <p:cNvPr id="186" name="Google Shape;186;p20"/>
          <p:cNvGrpSpPr/>
          <p:nvPr/>
        </p:nvGrpSpPr>
        <p:grpSpPr>
          <a:xfrm>
            <a:off x="1116733" y="1307177"/>
            <a:ext cx="16230600" cy="302551"/>
            <a:chOff x="0" y="-38100"/>
            <a:chExt cx="4052983" cy="75550"/>
          </a:xfrm>
        </p:grpSpPr>
        <p:sp>
          <p:nvSpPr>
            <p:cNvPr id="187" name="Google Shape;187;p20"/>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188" name="Google Shape;188;p20"/>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20"/>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190" name="Google Shape;190;p20"/>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p:nvPr/>
        </p:nvSpPr>
        <p:spPr>
          <a:xfrm>
            <a:off x="0" y="0"/>
            <a:ext cx="18288000" cy="10518458"/>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196" name="Google Shape;196;p21"/>
          <p:cNvSpPr txBox="1"/>
          <p:nvPr/>
        </p:nvSpPr>
        <p:spPr>
          <a:xfrm>
            <a:off x="4957903" y="522629"/>
            <a:ext cx="88278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FFFFFF"/>
                </a:solidFill>
                <a:latin typeface="Times"/>
                <a:ea typeface="Times"/>
                <a:cs typeface="Times"/>
                <a:sym typeface="Times"/>
              </a:rPr>
              <a:t>EXPECTED OUTCOME  / IMPACT</a:t>
            </a:r>
            <a:endParaRPr/>
          </a:p>
        </p:txBody>
      </p:sp>
      <p:sp>
        <p:nvSpPr>
          <p:cNvPr id="197" name="Google Shape;197;p21"/>
          <p:cNvSpPr txBox="1"/>
          <p:nvPr/>
        </p:nvSpPr>
        <p:spPr>
          <a:xfrm>
            <a:off x="901294" y="2511975"/>
            <a:ext cx="16230600" cy="25458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Expected results of the project : </a:t>
            </a:r>
            <a:r>
              <a:rPr i="1" lang="en-US" sz="3100">
                <a:solidFill>
                  <a:srgbClr val="FFFFFF"/>
                </a:solidFill>
                <a:latin typeface="Times New Roman"/>
                <a:ea typeface="Times New Roman"/>
                <a:cs typeface="Times New Roman"/>
                <a:sym typeface="Times New Roman"/>
              </a:rPr>
              <a:t>The project is expected to provide real-time posture detection with instant feedback, helping users maintain correct posture and take timely breaks. It will improve user health and productivity by reducing fatigue, preventing strain, and encouraging better sitting habits over time.</a:t>
            </a:r>
            <a:endParaRPr b="1" i="1" sz="3100">
              <a:solidFill>
                <a:schemeClr val="lt1"/>
              </a:solidFill>
              <a:latin typeface="Times New Roman"/>
              <a:ea typeface="Times New Roman"/>
              <a:cs typeface="Times New Roman"/>
              <a:sym typeface="Times New Roman"/>
            </a:endParaRPr>
          </a:p>
        </p:txBody>
      </p:sp>
      <p:sp>
        <p:nvSpPr>
          <p:cNvPr id="198" name="Google Shape;198;p21"/>
          <p:cNvSpPr txBox="1"/>
          <p:nvPr/>
        </p:nvSpPr>
        <p:spPr>
          <a:xfrm>
            <a:off x="896488" y="5218188"/>
            <a:ext cx="16240200" cy="25458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Benefits to users : </a:t>
            </a:r>
            <a:r>
              <a:rPr i="1" lang="en-US" sz="3100">
                <a:solidFill>
                  <a:srgbClr val="FFFFFF"/>
                </a:solidFill>
                <a:latin typeface="Times New Roman"/>
                <a:ea typeface="Times New Roman"/>
                <a:cs typeface="Times New Roman"/>
                <a:sym typeface="Times New Roman"/>
              </a:rPr>
              <a:t>The project is expected to provide real-time posture detection with instant feedback, helping users maintain correct posture and take timely breaks. It will improve user health and productivity by reducing fatigue, preventing strain, and encouraging better sitting habits over time.</a:t>
            </a:r>
            <a:endParaRPr b="1" i="1" sz="3100">
              <a:solidFill>
                <a:srgbClr val="FFFFFF"/>
              </a:solidFill>
              <a:latin typeface="Times New Roman"/>
              <a:ea typeface="Times New Roman"/>
              <a:cs typeface="Times New Roman"/>
              <a:sym typeface="Times New Roman"/>
            </a:endParaRPr>
          </a:p>
        </p:txBody>
      </p:sp>
      <p:sp>
        <p:nvSpPr>
          <p:cNvPr id="199" name="Google Shape;199;p21"/>
          <p:cNvSpPr txBox="1"/>
          <p:nvPr/>
        </p:nvSpPr>
        <p:spPr>
          <a:xfrm>
            <a:off x="901289" y="7924400"/>
            <a:ext cx="16230600" cy="18777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Real-world impact : </a:t>
            </a:r>
            <a:r>
              <a:rPr i="1" lang="en-US" sz="3100">
                <a:solidFill>
                  <a:srgbClr val="FFFFFF"/>
                </a:solidFill>
                <a:latin typeface="Times New Roman"/>
                <a:ea typeface="Times New Roman"/>
                <a:cs typeface="Times New Roman"/>
                <a:sym typeface="Times New Roman"/>
              </a:rPr>
              <a:t>Users benefit by improving their posture, reducing back and neck pain, and avoiding long-term health issues. It also boosts productivity and awareness by providing timely reminders, real-time feedback, and healthier work habits.</a:t>
            </a:r>
            <a:endParaRPr b="1" i="1" sz="3100">
              <a:solidFill>
                <a:srgbClr val="FFFFFF"/>
              </a:solidFill>
              <a:latin typeface="Times New Roman"/>
              <a:ea typeface="Times New Roman"/>
              <a:cs typeface="Times New Roman"/>
              <a:sym typeface="Times New Roman"/>
            </a:endParaRPr>
          </a:p>
        </p:txBody>
      </p:sp>
      <p:grpSp>
        <p:nvGrpSpPr>
          <p:cNvPr id="200" name="Google Shape;200;p21"/>
          <p:cNvGrpSpPr/>
          <p:nvPr/>
        </p:nvGrpSpPr>
        <p:grpSpPr>
          <a:xfrm>
            <a:off x="1565415" y="1289287"/>
            <a:ext cx="16230600" cy="302551"/>
            <a:chOff x="0" y="-38100"/>
            <a:chExt cx="4052983" cy="75550"/>
          </a:xfrm>
        </p:grpSpPr>
        <p:sp>
          <p:nvSpPr>
            <p:cNvPr id="201" name="Google Shape;201;p21"/>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202" name="Google Shape;202;p21"/>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21"/>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204" name="Google Shape;204;p21"/>
          <p:cNvSpPr/>
          <p:nvPr/>
        </p:nvSpPr>
        <p:spPr>
          <a:xfrm>
            <a:off x="16579777" y="0"/>
            <a:ext cx="1708227" cy="1664903"/>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sp>
      <p:sp>
        <p:nvSpPr>
          <p:cNvPr id="210" name="Google Shape;210;p22"/>
          <p:cNvSpPr txBox="1"/>
          <p:nvPr/>
        </p:nvSpPr>
        <p:spPr>
          <a:xfrm>
            <a:off x="4225647" y="499136"/>
            <a:ext cx="98367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FFFFFF"/>
                </a:solidFill>
                <a:latin typeface="Times"/>
                <a:ea typeface="Times"/>
                <a:cs typeface="Times"/>
                <a:sym typeface="Times"/>
              </a:rPr>
              <a:t>FUTURE  SCOPE  AND  CONCLUSION</a:t>
            </a:r>
            <a:endParaRPr/>
          </a:p>
        </p:txBody>
      </p:sp>
      <p:sp>
        <p:nvSpPr>
          <p:cNvPr id="211" name="Google Shape;211;p22"/>
          <p:cNvSpPr txBox="1"/>
          <p:nvPr/>
        </p:nvSpPr>
        <p:spPr>
          <a:xfrm>
            <a:off x="901366" y="3173675"/>
            <a:ext cx="16230600" cy="23073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Future improvements : </a:t>
            </a:r>
            <a:r>
              <a:rPr b="1" lang="en-US" sz="3100">
                <a:solidFill>
                  <a:schemeClr val="lt1"/>
                </a:solidFill>
                <a:latin typeface="Times New Roman"/>
                <a:ea typeface="Times New Roman"/>
                <a:cs typeface="Times New Roman"/>
                <a:sym typeface="Times New Roman"/>
              </a:rPr>
              <a:t>1. Mobile app integration</a:t>
            </a:r>
            <a:endParaRPr b="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US" sz="3100">
                <a:solidFill>
                  <a:schemeClr val="lt1"/>
                </a:solidFill>
                <a:latin typeface="Times New Roman"/>
                <a:ea typeface="Times New Roman"/>
                <a:cs typeface="Times New Roman"/>
                <a:sym typeface="Times New Roman"/>
              </a:rPr>
              <a:t>                                           2. Cloud-based posture tracking</a:t>
            </a:r>
            <a:endParaRPr b="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US" sz="3100">
                <a:solidFill>
                  <a:schemeClr val="lt1"/>
                </a:solidFill>
                <a:latin typeface="Times New Roman"/>
                <a:ea typeface="Times New Roman"/>
                <a:cs typeface="Times New Roman"/>
                <a:sym typeface="Times New Roman"/>
              </a:rPr>
              <a:t>                                           3. Personalized AI coaching</a:t>
            </a:r>
            <a:endParaRPr b="1" sz="3100">
              <a:solidFill>
                <a:schemeClr val="lt1"/>
              </a:solidFill>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US" sz="3100">
                <a:solidFill>
                  <a:schemeClr val="lt1"/>
                </a:solidFill>
                <a:latin typeface="Times New Roman"/>
                <a:ea typeface="Times New Roman"/>
                <a:cs typeface="Times New Roman"/>
                <a:sym typeface="Times New Roman"/>
              </a:rPr>
              <a:t>                                           4. Wearable integration</a:t>
            </a:r>
            <a:endParaRPr b="1" sz="3100">
              <a:solidFill>
                <a:schemeClr val="lt1"/>
              </a:solidFill>
              <a:latin typeface="Times New Roman"/>
              <a:ea typeface="Times New Roman"/>
              <a:cs typeface="Times New Roman"/>
              <a:sym typeface="Times New Roman"/>
            </a:endParaRPr>
          </a:p>
        </p:txBody>
      </p:sp>
      <p:sp>
        <p:nvSpPr>
          <p:cNvPr id="212" name="Google Shape;212;p22"/>
          <p:cNvSpPr txBox="1"/>
          <p:nvPr/>
        </p:nvSpPr>
        <p:spPr>
          <a:xfrm>
            <a:off x="901367" y="6448075"/>
            <a:ext cx="16230600" cy="2545800"/>
          </a:xfrm>
          <a:prstGeom prst="rect">
            <a:avLst/>
          </a:prstGeom>
          <a:noFill/>
          <a:ln>
            <a:noFill/>
          </a:ln>
        </p:spPr>
        <p:txBody>
          <a:bodyPr anchorCtr="0" anchor="t" bIns="0" lIns="0" spcFirstLastPara="1" rIns="0" wrap="square" tIns="0">
            <a:spAutoFit/>
          </a:bodyPr>
          <a:lstStyle/>
          <a:p>
            <a:pPr indent="-367029" lvl="1" marL="734056" marR="0" rtl="0" algn="l">
              <a:lnSpc>
                <a:spcPct val="140011"/>
              </a:lnSpc>
              <a:spcBef>
                <a:spcPts val="0"/>
              </a:spcBef>
              <a:spcAft>
                <a:spcPts val="0"/>
              </a:spcAft>
              <a:buClr>
                <a:srgbClr val="FFFFFF"/>
              </a:buClr>
              <a:buSzPts val="3399"/>
              <a:buFont typeface="Arial"/>
              <a:buChar char="•"/>
            </a:pPr>
            <a:r>
              <a:rPr b="1" i="0" lang="en-US" sz="3399" u="none" cap="none" strike="noStrike">
                <a:solidFill>
                  <a:srgbClr val="FFFFFF"/>
                </a:solidFill>
                <a:latin typeface="Times"/>
                <a:ea typeface="Times"/>
                <a:cs typeface="Times"/>
                <a:sym typeface="Times"/>
              </a:rPr>
              <a:t>Scalability of the project : </a:t>
            </a:r>
            <a:r>
              <a:rPr lang="en-US" sz="3100">
                <a:solidFill>
                  <a:srgbClr val="FFFFFF"/>
                </a:solidFill>
                <a:latin typeface="Times New Roman"/>
                <a:ea typeface="Times New Roman"/>
                <a:cs typeface="Times New Roman"/>
                <a:sym typeface="Times New Roman"/>
              </a:rPr>
              <a:t>The project is highly scalable as it is built using web technologies and AI models that can be deployed across multiple devices and platforms. It can be expanded to support mobile apps, cloud-based data tracking, and personalized AI coaching for a large number of users.</a:t>
            </a:r>
            <a:endParaRPr b="1" sz="3100">
              <a:solidFill>
                <a:srgbClr val="FFFFFF"/>
              </a:solidFill>
              <a:latin typeface="Times New Roman"/>
              <a:ea typeface="Times New Roman"/>
              <a:cs typeface="Times New Roman"/>
              <a:sym typeface="Times New Roman"/>
            </a:endParaRPr>
          </a:p>
        </p:txBody>
      </p:sp>
      <p:grpSp>
        <p:nvGrpSpPr>
          <p:cNvPr id="213" name="Google Shape;213;p22"/>
          <p:cNvGrpSpPr/>
          <p:nvPr/>
        </p:nvGrpSpPr>
        <p:grpSpPr>
          <a:xfrm>
            <a:off x="1136043" y="1271396"/>
            <a:ext cx="16230600" cy="302551"/>
            <a:chOff x="0" y="-38100"/>
            <a:chExt cx="4052983" cy="75550"/>
          </a:xfrm>
        </p:grpSpPr>
        <p:sp>
          <p:nvSpPr>
            <p:cNvPr id="214" name="Google Shape;214;p22"/>
            <p:cNvSpPr/>
            <p:nvPr/>
          </p:nvSpPr>
          <p:spPr>
            <a:xfrm>
              <a:off x="0" y="0"/>
              <a:ext cx="4052983" cy="37450"/>
            </a:xfrm>
            <a:custGeom>
              <a:rect b="b" l="l" r="r" t="t"/>
              <a:pathLst>
                <a:path extrusionOk="0" h="37450" w="4052983">
                  <a:moveTo>
                    <a:pt x="0" y="0"/>
                  </a:moveTo>
                  <a:lnTo>
                    <a:pt x="4052983" y="0"/>
                  </a:lnTo>
                  <a:lnTo>
                    <a:pt x="4052983" y="37450"/>
                  </a:lnTo>
                  <a:lnTo>
                    <a:pt x="0" y="37450"/>
                  </a:lnTo>
                  <a:close/>
                </a:path>
              </a:pathLst>
            </a:custGeom>
            <a:gradFill>
              <a:gsLst>
                <a:gs pos="0">
                  <a:srgbClr val="FFC4E1">
                    <a:alpha val="0"/>
                  </a:srgbClr>
                </a:gs>
                <a:gs pos="25000">
                  <a:srgbClr val="C4FBFF"/>
                </a:gs>
                <a:gs pos="50000">
                  <a:srgbClr val="DAFCFF"/>
                </a:gs>
                <a:gs pos="75000">
                  <a:srgbClr val="C4FBFF">
                    <a:alpha val="60000"/>
                  </a:srgbClr>
                </a:gs>
                <a:gs pos="100000">
                  <a:srgbClr val="FFC4E1">
                    <a:alpha val="0"/>
                  </a:srgbClr>
                </a:gs>
              </a:gsLst>
              <a:lin ang="0" scaled="0"/>
            </a:gradFill>
            <a:ln>
              <a:noFill/>
            </a:ln>
          </p:spPr>
        </p:sp>
        <p:sp>
          <p:nvSpPr>
            <p:cNvPr id="215" name="Google Shape;215;p22"/>
            <p:cNvSpPr txBox="1"/>
            <p:nvPr/>
          </p:nvSpPr>
          <p:spPr>
            <a:xfrm>
              <a:off x="0" y="-38100"/>
              <a:ext cx="4052983" cy="75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22"/>
          <p:cNvSpPr/>
          <p:nvPr/>
        </p:nvSpPr>
        <p:spPr>
          <a:xfrm>
            <a:off x="633296" y="575308"/>
            <a:ext cx="2131575" cy="1004833"/>
          </a:xfrm>
          <a:custGeom>
            <a:rect b="b" l="l" r="r" t="t"/>
            <a:pathLst>
              <a:path extrusionOk="0" h="1004833" w="2131575">
                <a:moveTo>
                  <a:pt x="0" y="0"/>
                </a:moveTo>
                <a:lnTo>
                  <a:pt x="2131575" y="0"/>
                </a:lnTo>
                <a:lnTo>
                  <a:pt x="2131575" y="1004833"/>
                </a:lnTo>
                <a:lnTo>
                  <a:pt x="0" y="1004833"/>
                </a:lnTo>
                <a:lnTo>
                  <a:pt x="0" y="0"/>
                </a:lnTo>
                <a:close/>
              </a:path>
            </a:pathLst>
          </a:custGeom>
          <a:blipFill rotWithShape="1">
            <a:blip r:embed="rId4">
              <a:alphaModFix/>
            </a:blip>
            <a:stretch>
              <a:fillRect b="0" l="0" r="0" t="0"/>
            </a:stretch>
          </a:blipFill>
          <a:ln>
            <a:noFill/>
          </a:ln>
        </p:spPr>
      </p:sp>
      <p:sp>
        <p:nvSpPr>
          <p:cNvPr id="217" name="Google Shape;217;p22"/>
          <p:cNvSpPr/>
          <p:nvPr/>
        </p:nvSpPr>
        <p:spPr>
          <a:xfrm>
            <a:off x="15812316" y="-1"/>
            <a:ext cx="2475692" cy="2475692"/>
          </a:xfrm>
          <a:custGeom>
            <a:rect b="b" l="l" r="r" t="t"/>
            <a:pathLst>
              <a:path extrusionOk="0" h="2475692" w="2475692">
                <a:moveTo>
                  <a:pt x="0" y="0"/>
                </a:moveTo>
                <a:lnTo>
                  <a:pt x="2475692" y="0"/>
                </a:lnTo>
                <a:lnTo>
                  <a:pt x="2475692" y="2475692"/>
                </a:lnTo>
                <a:lnTo>
                  <a:pt x="0" y="2475692"/>
                </a:lnTo>
                <a:lnTo>
                  <a:pt x="0" y="0"/>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